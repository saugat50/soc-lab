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465" r:id="rId2"/>
    <p:sldId id="496" r:id="rId3"/>
    <p:sldId id="263" r:id="rId4"/>
    <p:sldId id="390" r:id="rId5"/>
    <p:sldId id="498" r:id="rId6"/>
    <p:sldId id="344" r:id="rId7"/>
    <p:sldId id="388" r:id="rId8"/>
    <p:sldId id="466" r:id="rId9"/>
    <p:sldId id="484" r:id="rId10"/>
    <p:sldId id="467" r:id="rId11"/>
    <p:sldId id="483" r:id="rId12"/>
    <p:sldId id="501" r:id="rId13"/>
    <p:sldId id="503" r:id="rId14"/>
    <p:sldId id="500" r:id="rId15"/>
    <p:sldId id="491" r:id="rId16"/>
    <p:sldId id="345" r:id="rId17"/>
    <p:sldId id="470" r:id="rId18"/>
    <p:sldId id="490" r:id="rId19"/>
    <p:sldId id="504" r:id="rId20"/>
    <p:sldId id="39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18B8"/>
    <a:srgbClr val="002060"/>
    <a:srgbClr val="BDD7EE"/>
    <a:srgbClr val="FBE5D6"/>
    <a:srgbClr val="717CFF"/>
    <a:srgbClr val="CCCCFF"/>
    <a:srgbClr val="DEEBF7"/>
    <a:srgbClr val="4889F8"/>
    <a:srgbClr val="FFF5E4"/>
    <a:srgbClr val="FDF7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59" d="100"/>
          <a:sy n="59" d="100"/>
        </p:scale>
        <p:origin x="8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DAE0A7-2698-4380-A399-1C1AED523621}" type="datetimeFigureOut">
              <a:rPr lang="en-IN" smtClean="0"/>
              <a:t>11-05-2026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537FC-0370-4D6F-91F5-1B6434F65021}" type="slidenum">
              <a:rPr lang="en-IN" smtClean="0"/>
              <a:t>‹#›</a:t>
            </a:fld>
            <a:endParaRPr lang="en-IN"/>
          </a:p>
        </p:txBody>
      </p:sp>
    </p:spTree>
    <p:extLst>
      <p:ext uri="{BB962C8B-B14F-4D97-AF65-F5344CB8AC3E}">
        <p14:creationId xmlns:p14="http://schemas.microsoft.com/office/powerpoint/2010/main" val="496913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1B537FC-0370-4D6F-91F5-1B6434F65021}" type="slidenum">
              <a:rPr lang="en-IN" smtClean="0"/>
              <a:t>9</a:t>
            </a:fld>
            <a:endParaRPr lang="en-IN"/>
          </a:p>
        </p:txBody>
      </p:sp>
    </p:spTree>
    <p:extLst>
      <p:ext uri="{BB962C8B-B14F-4D97-AF65-F5344CB8AC3E}">
        <p14:creationId xmlns:p14="http://schemas.microsoft.com/office/powerpoint/2010/main" val="2775808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1249-518E-CC0B-76FA-6288CBC8FC8A}"/>
              </a:ext>
            </a:extLst>
          </p:cNvPr>
          <p:cNvSpPr>
            <a:spLocks noGrp="1"/>
          </p:cNvSpPr>
          <p:nvPr>
            <p:ph type="ctrTitle"/>
          </p:nvPr>
        </p:nvSpPr>
        <p:spPr>
          <a:xfrm>
            <a:off x="1524000" y="1122363"/>
            <a:ext cx="9144000" cy="2387600"/>
          </a:xfrm>
        </p:spPr>
        <p:txBody>
          <a:bodyPr anchor="b">
            <a:normAutofit/>
          </a:bodyPr>
          <a:lstStyle>
            <a:lvl1pPr algn="ctr">
              <a:defRPr sz="5401"/>
            </a:lvl1pPr>
          </a:lstStyle>
          <a:p>
            <a:r>
              <a:rPr lang="en-US"/>
              <a:t>Click to edit Master title style</a:t>
            </a:r>
            <a:endParaRPr lang="en-IN" dirty="0"/>
          </a:p>
        </p:txBody>
      </p:sp>
      <p:sp>
        <p:nvSpPr>
          <p:cNvPr id="3" name="Subtitle 2">
            <a:extLst>
              <a:ext uri="{FF2B5EF4-FFF2-40B4-BE49-F238E27FC236}">
                <a16:creationId xmlns:a16="http://schemas.microsoft.com/office/drawing/2014/main" id="{66139686-94D7-E408-BB73-ED9400C2E8C1}"/>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IN" dirty="0"/>
          </a:p>
        </p:txBody>
      </p:sp>
      <p:sp>
        <p:nvSpPr>
          <p:cNvPr id="4" name="Date Placeholder 3">
            <a:extLst>
              <a:ext uri="{FF2B5EF4-FFF2-40B4-BE49-F238E27FC236}">
                <a16:creationId xmlns:a16="http://schemas.microsoft.com/office/drawing/2014/main" id="{73B2C1BB-F2A9-E8B4-8A18-7F25689BC896}"/>
              </a:ext>
            </a:extLst>
          </p:cNvPr>
          <p:cNvSpPr>
            <a:spLocks noGrp="1"/>
          </p:cNvSpPr>
          <p:nvPr>
            <p:ph type="dt" sz="half" idx="10"/>
          </p:nvPr>
        </p:nvSpPr>
        <p:spPr/>
        <p:txBody>
          <a:bodyPr/>
          <a:lstStyle/>
          <a:p>
            <a:fld id="{460C12D2-8E26-4B4F-92EE-391E9D2332F9}" type="datetime1">
              <a:rPr lang="en-IN" smtClean="0"/>
              <a:t>11-05-2026</a:t>
            </a:fld>
            <a:endParaRPr lang="en-IN"/>
          </a:p>
        </p:txBody>
      </p:sp>
      <p:sp>
        <p:nvSpPr>
          <p:cNvPr id="5" name="Footer Placeholder 4">
            <a:extLst>
              <a:ext uri="{FF2B5EF4-FFF2-40B4-BE49-F238E27FC236}">
                <a16:creationId xmlns:a16="http://schemas.microsoft.com/office/drawing/2014/main" id="{261FFDE0-FEA3-1E55-5BB9-FA30137495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AEA763-E947-137A-E86C-62BA8A1FEAC0}"/>
              </a:ext>
            </a:extLst>
          </p:cNvPr>
          <p:cNvSpPr>
            <a:spLocks noGrp="1"/>
          </p:cNvSpPr>
          <p:nvPr>
            <p:ph type="sldNum" sz="quarter" idx="12"/>
          </p:nvPr>
        </p:nvSpPr>
        <p:spPr/>
        <p:txBody>
          <a:bodyPr/>
          <a:lstStyle/>
          <a:p>
            <a:fld id="{03F67448-8E76-4088-8C0F-9DC880FFD75C}" type="slidenum">
              <a:rPr lang="en-IN" smtClean="0"/>
              <a:t>‹#›</a:t>
            </a:fld>
            <a:endParaRPr lang="en-IN"/>
          </a:p>
        </p:txBody>
      </p:sp>
      <p:sp>
        <p:nvSpPr>
          <p:cNvPr id="9" name="Rectangle 8">
            <a:extLst>
              <a:ext uri="{FF2B5EF4-FFF2-40B4-BE49-F238E27FC236}">
                <a16:creationId xmlns:a16="http://schemas.microsoft.com/office/drawing/2014/main" id="{D7E1D929-6542-56DE-5A4E-D8BF7C8C8E82}"/>
              </a:ext>
            </a:extLst>
          </p:cNvPr>
          <p:cNvSpPr/>
          <p:nvPr/>
        </p:nvSpPr>
        <p:spPr>
          <a:xfrm>
            <a:off x="9971314" y="1600202"/>
            <a:ext cx="2220686" cy="8817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Tree>
    <p:extLst>
      <p:ext uri="{BB962C8B-B14F-4D97-AF65-F5344CB8AC3E}">
        <p14:creationId xmlns:p14="http://schemas.microsoft.com/office/powerpoint/2010/main" val="1727256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D79AA-9CFC-A341-B059-2E1B1188695E}"/>
              </a:ext>
            </a:extLst>
          </p:cNvPr>
          <p:cNvSpPr>
            <a:spLocks noGrp="1"/>
          </p:cNvSpPr>
          <p:nvPr>
            <p:ph type="title"/>
          </p:nvPr>
        </p:nvSpPr>
        <p:spPr/>
        <p:txBody>
          <a:body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667966AE-6563-2FED-E6A1-832832D0F8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EB150E-EB3F-B5B8-A254-52BDFAE6E88E}"/>
              </a:ext>
            </a:extLst>
          </p:cNvPr>
          <p:cNvSpPr>
            <a:spLocks noGrp="1"/>
          </p:cNvSpPr>
          <p:nvPr>
            <p:ph type="dt" sz="half" idx="10"/>
          </p:nvPr>
        </p:nvSpPr>
        <p:spPr/>
        <p:txBody>
          <a:bodyPr/>
          <a:lstStyle/>
          <a:p>
            <a:fld id="{7A351DCE-B476-408A-B703-10BDB3CE1D41}" type="datetime1">
              <a:rPr lang="en-IN" smtClean="0"/>
              <a:t>11-05-2026</a:t>
            </a:fld>
            <a:endParaRPr lang="en-IN"/>
          </a:p>
        </p:txBody>
      </p:sp>
      <p:sp>
        <p:nvSpPr>
          <p:cNvPr id="5" name="Footer Placeholder 4">
            <a:extLst>
              <a:ext uri="{FF2B5EF4-FFF2-40B4-BE49-F238E27FC236}">
                <a16:creationId xmlns:a16="http://schemas.microsoft.com/office/drawing/2014/main" id="{4D7E16E8-5DCB-9AB9-B0DC-E5701F63C2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CF7D4D-5742-5775-0AA6-5088C7890F49}"/>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124254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52316-8B40-1151-D794-F1415329C0EA}"/>
              </a:ext>
            </a:extLst>
          </p:cNvPr>
          <p:cNvSpPr>
            <a:spLocks noGrp="1"/>
          </p:cNvSpPr>
          <p:nvPr>
            <p:ph type="title"/>
          </p:nvPr>
        </p:nvSpPr>
        <p:spPr>
          <a:xfrm>
            <a:off x="831853"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A7457E-1929-BE0E-5242-42F609B7704A}"/>
              </a:ext>
            </a:extLst>
          </p:cNvPr>
          <p:cNvSpPr>
            <a:spLocks noGrp="1"/>
          </p:cNvSpPr>
          <p:nvPr>
            <p:ph type="body" idx="1"/>
          </p:nvPr>
        </p:nvSpPr>
        <p:spPr>
          <a:xfrm>
            <a:off x="831853" y="4589465"/>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5607D-DF07-C8DB-6FBC-12A28F1A67F5}"/>
              </a:ext>
            </a:extLst>
          </p:cNvPr>
          <p:cNvSpPr>
            <a:spLocks noGrp="1"/>
          </p:cNvSpPr>
          <p:nvPr>
            <p:ph type="dt" sz="half" idx="10"/>
          </p:nvPr>
        </p:nvSpPr>
        <p:spPr/>
        <p:txBody>
          <a:bodyPr/>
          <a:lstStyle/>
          <a:p>
            <a:fld id="{2BE62A82-D98D-45F2-99F3-B9EDDE6F09EC}" type="datetime1">
              <a:rPr lang="en-IN" smtClean="0"/>
              <a:t>11-05-2026</a:t>
            </a:fld>
            <a:endParaRPr lang="en-IN"/>
          </a:p>
        </p:txBody>
      </p:sp>
      <p:sp>
        <p:nvSpPr>
          <p:cNvPr id="5" name="Footer Placeholder 4">
            <a:extLst>
              <a:ext uri="{FF2B5EF4-FFF2-40B4-BE49-F238E27FC236}">
                <a16:creationId xmlns:a16="http://schemas.microsoft.com/office/drawing/2014/main" id="{A1E05BDD-5CEA-ADA1-3500-B4949558C9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99D001-C6CC-ED7B-30E0-22F874C1CD80}"/>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251749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9F32-1422-AAD2-918E-31F7E036D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B256CC-8A55-346A-E32F-3365C17796DF}"/>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181630-F8AB-F543-8012-871550A8E683}"/>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770D87-C03A-FEE3-4FAF-6F2B440DFC4F}"/>
              </a:ext>
            </a:extLst>
          </p:cNvPr>
          <p:cNvSpPr>
            <a:spLocks noGrp="1"/>
          </p:cNvSpPr>
          <p:nvPr>
            <p:ph type="dt" sz="half" idx="10"/>
          </p:nvPr>
        </p:nvSpPr>
        <p:spPr/>
        <p:txBody>
          <a:bodyPr/>
          <a:lstStyle/>
          <a:p>
            <a:fld id="{8090B523-9E15-4469-A757-382DAEAAE4D6}" type="datetime1">
              <a:rPr lang="en-IN" smtClean="0"/>
              <a:t>11-05-2026</a:t>
            </a:fld>
            <a:endParaRPr lang="en-IN"/>
          </a:p>
        </p:txBody>
      </p:sp>
      <p:sp>
        <p:nvSpPr>
          <p:cNvPr id="6" name="Footer Placeholder 5">
            <a:extLst>
              <a:ext uri="{FF2B5EF4-FFF2-40B4-BE49-F238E27FC236}">
                <a16:creationId xmlns:a16="http://schemas.microsoft.com/office/drawing/2014/main" id="{DE761CB0-B6D4-7325-15E8-1D7F1C5D5E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5D26A6-48FC-25EC-ED5E-606D13933D91}"/>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2735251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CCD5F-B640-7E37-D761-6D1196FB6F73}"/>
              </a:ext>
            </a:extLst>
          </p:cNvPr>
          <p:cNvSpPr>
            <a:spLocks noGrp="1"/>
          </p:cNvSpPr>
          <p:nvPr>
            <p:ph type="title"/>
          </p:nvPr>
        </p:nvSpPr>
        <p:spPr>
          <a:xfrm>
            <a:off x="839789"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68BC5C-1238-3A1B-8C5F-BD95BE142E9B}"/>
              </a:ext>
            </a:extLst>
          </p:cNvPr>
          <p:cNvSpPr>
            <a:spLocks noGrp="1"/>
          </p:cNvSpPr>
          <p:nvPr>
            <p:ph type="body" idx="1"/>
          </p:nvPr>
        </p:nvSpPr>
        <p:spPr>
          <a:xfrm>
            <a:off x="839791"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AFC92C-5F91-03B4-2431-DA308C4C51D4}"/>
              </a:ext>
            </a:extLst>
          </p:cNvPr>
          <p:cNvSpPr>
            <a:spLocks noGrp="1"/>
          </p:cNvSpPr>
          <p:nvPr>
            <p:ph sz="half" idx="2"/>
          </p:nvPr>
        </p:nvSpPr>
        <p:spPr>
          <a:xfrm>
            <a:off x="839791"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D0E16B-CCA1-23A7-152C-AC65C7298DA1}"/>
              </a:ext>
            </a:extLst>
          </p:cNvPr>
          <p:cNvSpPr>
            <a:spLocks noGrp="1"/>
          </p:cNvSpPr>
          <p:nvPr>
            <p:ph type="body" sz="quarter" idx="3"/>
          </p:nvPr>
        </p:nvSpPr>
        <p:spPr>
          <a:xfrm>
            <a:off x="6172203"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86B096-CF91-3CAB-8BC9-A02C04AEFEC5}"/>
              </a:ext>
            </a:extLst>
          </p:cNvPr>
          <p:cNvSpPr>
            <a:spLocks noGrp="1"/>
          </p:cNvSpPr>
          <p:nvPr>
            <p:ph sz="quarter" idx="4"/>
          </p:nvPr>
        </p:nvSpPr>
        <p:spPr>
          <a:xfrm>
            <a:off x="6172203"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67F73F-87D8-B854-6173-65901670596E}"/>
              </a:ext>
            </a:extLst>
          </p:cNvPr>
          <p:cNvSpPr>
            <a:spLocks noGrp="1"/>
          </p:cNvSpPr>
          <p:nvPr>
            <p:ph type="dt" sz="half" idx="10"/>
          </p:nvPr>
        </p:nvSpPr>
        <p:spPr/>
        <p:txBody>
          <a:bodyPr/>
          <a:lstStyle/>
          <a:p>
            <a:fld id="{8F47D54E-10AF-4FCC-8D9A-816276BED3B1}" type="datetime1">
              <a:rPr lang="en-IN" smtClean="0"/>
              <a:t>11-05-2026</a:t>
            </a:fld>
            <a:endParaRPr lang="en-IN"/>
          </a:p>
        </p:txBody>
      </p:sp>
      <p:sp>
        <p:nvSpPr>
          <p:cNvPr id="8" name="Footer Placeholder 7">
            <a:extLst>
              <a:ext uri="{FF2B5EF4-FFF2-40B4-BE49-F238E27FC236}">
                <a16:creationId xmlns:a16="http://schemas.microsoft.com/office/drawing/2014/main" id="{48EBF732-595F-9030-CEFC-3B61470F6B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D41571-0F40-81FB-98BC-647788A4461C}"/>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3059350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E1A6-E146-1C33-86B4-E60877634E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D21DCE-26F7-F211-881B-2800D1160E89}"/>
              </a:ext>
            </a:extLst>
          </p:cNvPr>
          <p:cNvSpPr>
            <a:spLocks noGrp="1"/>
          </p:cNvSpPr>
          <p:nvPr>
            <p:ph type="dt" sz="half" idx="10"/>
          </p:nvPr>
        </p:nvSpPr>
        <p:spPr/>
        <p:txBody>
          <a:bodyPr/>
          <a:lstStyle/>
          <a:p>
            <a:fld id="{9DED8FF2-221B-4249-824B-2AC664878973}" type="datetime1">
              <a:rPr lang="en-IN" smtClean="0"/>
              <a:t>11-05-2026</a:t>
            </a:fld>
            <a:endParaRPr lang="en-IN"/>
          </a:p>
        </p:txBody>
      </p:sp>
      <p:sp>
        <p:nvSpPr>
          <p:cNvPr id="4" name="Footer Placeholder 3">
            <a:extLst>
              <a:ext uri="{FF2B5EF4-FFF2-40B4-BE49-F238E27FC236}">
                <a16:creationId xmlns:a16="http://schemas.microsoft.com/office/drawing/2014/main" id="{B4286BE9-45A0-ED16-1CDF-D709B45119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41991F7-F2EE-1A37-BA40-2B1E73E981A0}"/>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396013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79AAA7-EE59-17A8-A878-37D9991F44C1}"/>
              </a:ext>
            </a:extLst>
          </p:cNvPr>
          <p:cNvSpPr>
            <a:spLocks noGrp="1"/>
          </p:cNvSpPr>
          <p:nvPr>
            <p:ph type="dt" sz="half" idx="10"/>
          </p:nvPr>
        </p:nvSpPr>
        <p:spPr/>
        <p:txBody>
          <a:bodyPr/>
          <a:lstStyle/>
          <a:p>
            <a:fld id="{E61A5D81-6B2D-446E-9371-DAEF6201051F}" type="datetime1">
              <a:rPr lang="en-IN" smtClean="0"/>
              <a:t>11-05-2026</a:t>
            </a:fld>
            <a:endParaRPr lang="en-IN"/>
          </a:p>
        </p:txBody>
      </p:sp>
      <p:sp>
        <p:nvSpPr>
          <p:cNvPr id="3" name="Footer Placeholder 2">
            <a:extLst>
              <a:ext uri="{FF2B5EF4-FFF2-40B4-BE49-F238E27FC236}">
                <a16:creationId xmlns:a16="http://schemas.microsoft.com/office/drawing/2014/main" id="{0EB109AC-7AF8-AD37-E917-0950471F57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018FE0-FFE0-63E1-B35F-18932A742E43}"/>
              </a:ext>
            </a:extLst>
          </p:cNvPr>
          <p:cNvSpPr>
            <a:spLocks noGrp="1"/>
          </p:cNvSpPr>
          <p:nvPr>
            <p:ph type="sldNum" sz="quarter" idx="12"/>
          </p:nvPr>
        </p:nvSpPr>
        <p:spPr/>
        <p:txBody>
          <a:bodyPr/>
          <a:lstStyle/>
          <a:p>
            <a:fld id="{03F67448-8E76-4088-8C0F-9DC880FFD75C}" type="slidenum">
              <a:rPr lang="en-IN" smtClean="0"/>
              <a:t>‹#›</a:t>
            </a:fld>
            <a:endParaRPr lang="en-IN"/>
          </a:p>
        </p:txBody>
      </p:sp>
      <p:cxnSp>
        <p:nvCxnSpPr>
          <p:cNvPr id="5" name="Straight Connector 4">
            <a:extLst>
              <a:ext uri="{FF2B5EF4-FFF2-40B4-BE49-F238E27FC236}">
                <a16:creationId xmlns:a16="http://schemas.microsoft.com/office/drawing/2014/main" id="{453AE9E6-8BB3-590F-969E-BFE4E5B4A7B6}"/>
              </a:ext>
            </a:extLst>
          </p:cNvPr>
          <p:cNvCxnSpPr/>
          <p:nvPr userDrawn="1"/>
        </p:nvCxnSpPr>
        <p:spPr>
          <a:xfrm>
            <a:off x="838204" y="6272667"/>
            <a:ext cx="10515600"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88A5819D-C956-7CCC-1613-C2CBB2D3BFF4}"/>
              </a:ext>
            </a:extLst>
          </p:cNvPr>
          <p:cNvGrpSpPr/>
          <p:nvPr userDrawn="1"/>
        </p:nvGrpSpPr>
        <p:grpSpPr>
          <a:xfrm flipV="1">
            <a:off x="859974" y="6308730"/>
            <a:ext cx="3135084" cy="71645"/>
            <a:chOff x="10472059" y="1023707"/>
            <a:chExt cx="881740" cy="49899"/>
          </a:xfrm>
        </p:grpSpPr>
        <p:grpSp>
          <p:nvGrpSpPr>
            <p:cNvPr id="7" name="Group 6">
              <a:extLst>
                <a:ext uri="{FF2B5EF4-FFF2-40B4-BE49-F238E27FC236}">
                  <a16:creationId xmlns:a16="http://schemas.microsoft.com/office/drawing/2014/main" id="{401B73AA-76A4-619B-3D0D-CB2C0D00421F}"/>
                </a:ext>
              </a:extLst>
            </p:cNvPr>
            <p:cNvGrpSpPr/>
            <p:nvPr/>
          </p:nvGrpSpPr>
          <p:grpSpPr>
            <a:xfrm>
              <a:off x="10918372" y="1024176"/>
              <a:ext cx="435427" cy="49430"/>
              <a:chOff x="10918372" y="1024176"/>
              <a:chExt cx="435427" cy="49430"/>
            </a:xfrm>
          </p:grpSpPr>
          <p:sp>
            <p:nvSpPr>
              <p:cNvPr id="11" name="Rectangle: Single Corner Snipped 10">
                <a:extLst>
                  <a:ext uri="{FF2B5EF4-FFF2-40B4-BE49-F238E27FC236}">
                    <a16:creationId xmlns:a16="http://schemas.microsoft.com/office/drawing/2014/main" id="{29A5F611-582F-40AA-A216-79AA678E8DDC}"/>
                  </a:ext>
                </a:extLst>
              </p:cNvPr>
              <p:cNvSpPr/>
              <p:nvPr/>
            </p:nvSpPr>
            <p:spPr>
              <a:xfrm>
                <a:off x="11146971" y="1024176"/>
                <a:ext cx="206828" cy="49430"/>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12" name="Rectangle: Single Corner Snipped 11">
                <a:extLst>
                  <a:ext uri="{FF2B5EF4-FFF2-40B4-BE49-F238E27FC236}">
                    <a16:creationId xmlns:a16="http://schemas.microsoft.com/office/drawing/2014/main" id="{11B4FAE1-B144-A770-C946-1DB71B6959FE}"/>
                  </a:ext>
                </a:extLst>
              </p:cNvPr>
              <p:cNvSpPr/>
              <p:nvPr/>
            </p:nvSpPr>
            <p:spPr>
              <a:xfrm>
                <a:off x="10918372" y="1024177"/>
                <a:ext cx="206828" cy="49429"/>
              </a:xfrm>
              <a:prstGeom prst="snip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grpSp>
        <p:grpSp>
          <p:nvGrpSpPr>
            <p:cNvPr id="8" name="Group 7">
              <a:extLst>
                <a:ext uri="{FF2B5EF4-FFF2-40B4-BE49-F238E27FC236}">
                  <a16:creationId xmlns:a16="http://schemas.microsoft.com/office/drawing/2014/main" id="{830DDCB4-0B15-DD69-7D44-14A2262AD738}"/>
                </a:ext>
              </a:extLst>
            </p:cNvPr>
            <p:cNvGrpSpPr/>
            <p:nvPr/>
          </p:nvGrpSpPr>
          <p:grpSpPr>
            <a:xfrm>
              <a:off x="10472059" y="1023707"/>
              <a:ext cx="435427" cy="49430"/>
              <a:chOff x="10918372" y="1024176"/>
              <a:chExt cx="435427" cy="49430"/>
            </a:xfrm>
          </p:grpSpPr>
          <p:sp>
            <p:nvSpPr>
              <p:cNvPr id="9" name="Rectangle: Single Corner Snipped 8">
                <a:extLst>
                  <a:ext uri="{FF2B5EF4-FFF2-40B4-BE49-F238E27FC236}">
                    <a16:creationId xmlns:a16="http://schemas.microsoft.com/office/drawing/2014/main" id="{762D1B86-C0E3-DCAF-A1D2-AAC203E82B43}"/>
                  </a:ext>
                </a:extLst>
              </p:cNvPr>
              <p:cNvSpPr/>
              <p:nvPr/>
            </p:nvSpPr>
            <p:spPr>
              <a:xfrm>
                <a:off x="11146971" y="1024176"/>
                <a:ext cx="206828" cy="49430"/>
              </a:xfrm>
              <a:prstGeom prst="snip1Rect">
                <a:avLst>
                  <a:gd name="adj"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sp>
            <p:nvSpPr>
              <p:cNvPr id="10" name="Rectangle: Single Corner Snipped 9">
                <a:extLst>
                  <a:ext uri="{FF2B5EF4-FFF2-40B4-BE49-F238E27FC236}">
                    <a16:creationId xmlns:a16="http://schemas.microsoft.com/office/drawing/2014/main" id="{A6F7DDE0-ACF4-041B-DD27-0B47FB88C342}"/>
                  </a:ext>
                </a:extLst>
              </p:cNvPr>
              <p:cNvSpPr/>
              <p:nvPr/>
            </p:nvSpPr>
            <p:spPr>
              <a:xfrm>
                <a:off x="10918372" y="1024177"/>
                <a:ext cx="206828" cy="49429"/>
              </a:xfrm>
              <a:prstGeom prst="snip1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grpSp>
      </p:grpSp>
      <p:pic>
        <p:nvPicPr>
          <p:cNvPr id="13" name="Picture 12" descr="A red and blue text on a white background&#10;&#10;AI-generated content may be incorrect.">
            <a:extLst>
              <a:ext uri="{FF2B5EF4-FFF2-40B4-BE49-F238E27FC236}">
                <a16:creationId xmlns:a16="http://schemas.microsoft.com/office/drawing/2014/main" id="{3763422A-D1C4-A3F4-FF1A-4D41899381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0528" y="10860"/>
            <a:ext cx="2304288" cy="640080"/>
          </a:xfrm>
          <a:prstGeom prst="rect">
            <a:avLst/>
          </a:prstGeom>
        </p:spPr>
      </p:pic>
    </p:spTree>
    <p:extLst>
      <p:ext uri="{BB962C8B-B14F-4D97-AF65-F5344CB8AC3E}">
        <p14:creationId xmlns:p14="http://schemas.microsoft.com/office/powerpoint/2010/main" val="999680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79AAA7-EE59-17A8-A878-37D9991F44C1}"/>
              </a:ext>
            </a:extLst>
          </p:cNvPr>
          <p:cNvSpPr>
            <a:spLocks noGrp="1"/>
          </p:cNvSpPr>
          <p:nvPr>
            <p:ph type="dt" sz="half" idx="10"/>
          </p:nvPr>
        </p:nvSpPr>
        <p:spPr/>
        <p:txBody>
          <a:bodyPr/>
          <a:lstStyle/>
          <a:p>
            <a:fld id="{AAA2BEC3-1F55-401C-9D47-FA8AE70F9754}" type="datetime1">
              <a:rPr lang="en-IN" smtClean="0"/>
              <a:t>11-05-2026</a:t>
            </a:fld>
            <a:endParaRPr lang="en-IN"/>
          </a:p>
        </p:txBody>
      </p:sp>
      <p:sp>
        <p:nvSpPr>
          <p:cNvPr id="3" name="Footer Placeholder 2">
            <a:extLst>
              <a:ext uri="{FF2B5EF4-FFF2-40B4-BE49-F238E27FC236}">
                <a16:creationId xmlns:a16="http://schemas.microsoft.com/office/drawing/2014/main" id="{0EB109AC-7AF8-AD37-E917-0950471F57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018FE0-FFE0-63E1-B35F-18932A742E43}"/>
              </a:ext>
            </a:extLst>
          </p:cNvPr>
          <p:cNvSpPr>
            <a:spLocks noGrp="1"/>
          </p:cNvSpPr>
          <p:nvPr>
            <p:ph type="sldNum" sz="quarter" idx="12"/>
          </p:nvPr>
        </p:nvSpPr>
        <p:spPr/>
        <p:txBody>
          <a:bodyPr/>
          <a:lstStyle/>
          <a:p>
            <a:fld id="{03F67448-8E76-4088-8C0F-9DC880FFD75C}" type="slidenum">
              <a:rPr lang="en-IN" smtClean="0"/>
              <a:t>‹#›</a:t>
            </a:fld>
            <a:endParaRPr lang="en-IN"/>
          </a:p>
        </p:txBody>
      </p:sp>
      <p:pic>
        <p:nvPicPr>
          <p:cNvPr id="6" name="Picture 5" descr="A red and blue text on a white background&#10;&#10;AI-generated content may be incorrect.">
            <a:extLst>
              <a:ext uri="{FF2B5EF4-FFF2-40B4-BE49-F238E27FC236}">
                <a16:creationId xmlns:a16="http://schemas.microsoft.com/office/drawing/2014/main" id="{F1736AF1-3B7A-9744-918A-A637BF3577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0528" y="10860"/>
            <a:ext cx="2304288" cy="640080"/>
          </a:xfrm>
          <a:prstGeom prst="rect">
            <a:avLst/>
          </a:prstGeom>
        </p:spPr>
      </p:pic>
    </p:spTree>
    <p:extLst>
      <p:ext uri="{BB962C8B-B14F-4D97-AF65-F5344CB8AC3E}">
        <p14:creationId xmlns:p14="http://schemas.microsoft.com/office/powerpoint/2010/main" val="245849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2A895-1E78-27B2-E388-AE4403394C6E}"/>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9FF1B9-8FDA-07E4-2B8D-C5EB9A89CF24}"/>
              </a:ext>
            </a:extLst>
          </p:cNvPr>
          <p:cNvSpPr>
            <a:spLocks noGrp="1"/>
          </p:cNvSpPr>
          <p:nvPr>
            <p:ph idx="1"/>
          </p:nvPr>
        </p:nvSpPr>
        <p:spPr>
          <a:xfrm>
            <a:off x="5183190"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93B36D-F25E-5796-4F5D-822001BE16EC}"/>
              </a:ext>
            </a:extLst>
          </p:cNvPr>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B21311A0-0E68-B369-D2D2-11D84A2AFE4A}"/>
              </a:ext>
            </a:extLst>
          </p:cNvPr>
          <p:cNvSpPr>
            <a:spLocks noGrp="1"/>
          </p:cNvSpPr>
          <p:nvPr>
            <p:ph type="dt" sz="half" idx="10"/>
          </p:nvPr>
        </p:nvSpPr>
        <p:spPr/>
        <p:txBody>
          <a:bodyPr/>
          <a:lstStyle/>
          <a:p>
            <a:fld id="{5169F43A-DAC1-4FF9-812E-B4E6CA11715F}" type="datetime1">
              <a:rPr lang="en-IN" smtClean="0"/>
              <a:t>11-05-2026</a:t>
            </a:fld>
            <a:endParaRPr lang="en-IN"/>
          </a:p>
        </p:txBody>
      </p:sp>
      <p:sp>
        <p:nvSpPr>
          <p:cNvPr id="6" name="Footer Placeholder 5">
            <a:extLst>
              <a:ext uri="{FF2B5EF4-FFF2-40B4-BE49-F238E27FC236}">
                <a16:creationId xmlns:a16="http://schemas.microsoft.com/office/drawing/2014/main" id="{AAC46E4C-2A24-A937-A2FE-8E5CE43B9C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75EA4B-571A-D24E-36C6-A1AD99D01FB4}"/>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3979558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8C179-20F5-150A-7338-F16B1A7E36EB}"/>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9AFF73-2096-DF54-CB41-726A5A48F903}"/>
              </a:ext>
            </a:extLst>
          </p:cNvPr>
          <p:cNvSpPr>
            <a:spLocks noGrp="1"/>
          </p:cNvSpPr>
          <p:nvPr>
            <p:ph type="pic" idx="1"/>
          </p:nvPr>
        </p:nvSpPr>
        <p:spPr>
          <a:xfrm>
            <a:off x="5183190"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0A65307B-C722-07B7-39EB-E1850225F6B8}"/>
              </a:ext>
            </a:extLst>
          </p:cNvPr>
          <p:cNvSpPr>
            <a:spLocks noGrp="1"/>
          </p:cNvSpPr>
          <p:nvPr>
            <p:ph type="body" sz="half" idx="2"/>
          </p:nvPr>
        </p:nvSpPr>
        <p:spPr>
          <a:xfrm>
            <a:off x="839791"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E1FC4ABA-EBEC-EAA8-0A15-6746334159CD}"/>
              </a:ext>
            </a:extLst>
          </p:cNvPr>
          <p:cNvSpPr>
            <a:spLocks noGrp="1"/>
          </p:cNvSpPr>
          <p:nvPr>
            <p:ph type="dt" sz="half" idx="10"/>
          </p:nvPr>
        </p:nvSpPr>
        <p:spPr/>
        <p:txBody>
          <a:bodyPr/>
          <a:lstStyle/>
          <a:p>
            <a:fld id="{08770538-0A31-4084-BBC4-3874EB35255F}" type="datetime1">
              <a:rPr lang="en-IN" smtClean="0"/>
              <a:t>11-05-2026</a:t>
            </a:fld>
            <a:endParaRPr lang="en-IN"/>
          </a:p>
        </p:txBody>
      </p:sp>
      <p:sp>
        <p:nvSpPr>
          <p:cNvPr id="6" name="Footer Placeholder 5">
            <a:extLst>
              <a:ext uri="{FF2B5EF4-FFF2-40B4-BE49-F238E27FC236}">
                <a16:creationId xmlns:a16="http://schemas.microsoft.com/office/drawing/2014/main" id="{39412C35-1B5F-2E70-4861-4DF15245DE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516126-EED2-44F8-4182-18BE86CA2995}"/>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464938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E58F6-AD6F-FB5A-AED9-E081D3C7E8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706B84-4B58-5AEF-4E62-A49CEA5F59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E3EECB-FB86-4ECF-C56E-AFD5EA8B6D26}"/>
              </a:ext>
            </a:extLst>
          </p:cNvPr>
          <p:cNvSpPr>
            <a:spLocks noGrp="1"/>
          </p:cNvSpPr>
          <p:nvPr>
            <p:ph type="dt" sz="half" idx="10"/>
          </p:nvPr>
        </p:nvSpPr>
        <p:spPr/>
        <p:txBody>
          <a:bodyPr/>
          <a:lstStyle/>
          <a:p>
            <a:fld id="{56BDE620-75BA-42E3-B55F-A02EA3BAA900}" type="datetime1">
              <a:rPr lang="en-IN" smtClean="0"/>
              <a:t>11-05-2026</a:t>
            </a:fld>
            <a:endParaRPr lang="en-IN"/>
          </a:p>
        </p:txBody>
      </p:sp>
      <p:sp>
        <p:nvSpPr>
          <p:cNvPr id="5" name="Footer Placeholder 4">
            <a:extLst>
              <a:ext uri="{FF2B5EF4-FFF2-40B4-BE49-F238E27FC236}">
                <a16:creationId xmlns:a16="http://schemas.microsoft.com/office/drawing/2014/main" id="{3A1918B6-26BB-C0F4-B5D9-64E24B867E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23CDD1-5B88-7250-C93A-D2A0793866EB}"/>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435366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05793B-34E0-E0DB-C8AE-655A5DF0B8CB}"/>
              </a:ext>
            </a:extLst>
          </p:cNvPr>
          <p:cNvSpPr>
            <a:spLocks noGrp="1"/>
          </p:cNvSpPr>
          <p:nvPr>
            <p:ph type="title" orient="vert"/>
          </p:nvPr>
        </p:nvSpPr>
        <p:spPr>
          <a:xfrm>
            <a:off x="8724899"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8A8219-57FE-6B9D-B5DF-991F5603433C}"/>
              </a:ext>
            </a:extLst>
          </p:cNvPr>
          <p:cNvSpPr>
            <a:spLocks noGrp="1"/>
          </p:cNvSpPr>
          <p:nvPr>
            <p:ph type="body" orient="vert" idx="1"/>
          </p:nvPr>
        </p:nvSpPr>
        <p:spPr>
          <a:xfrm>
            <a:off x="838199"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CBE125-D33F-5D2A-7F16-A261A909CC57}"/>
              </a:ext>
            </a:extLst>
          </p:cNvPr>
          <p:cNvSpPr>
            <a:spLocks noGrp="1"/>
          </p:cNvSpPr>
          <p:nvPr>
            <p:ph type="dt" sz="half" idx="10"/>
          </p:nvPr>
        </p:nvSpPr>
        <p:spPr/>
        <p:txBody>
          <a:bodyPr/>
          <a:lstStyle/>
          <a:p>
            <a:fld id="{77C213C4-D20C-49F0-976F-F2A6ABBEC592}" type="datetime1">
              <a:rPr lang="en-IN" smtClean="0"/>
              <a:t>11-05-2026</a:t>
            </a:fld>
            <a:endParaRPr lang="en-IN"/>
          </a:p>
        </p:txBody>
      </p:sp>
      <p:sp>
        <p:nvSpPr>
          <p:cNvPr id="5" name="Footer Placeholder 4">
            <a:extLst>
              <a:ext uri="{FF2B5EF4-FFF2-40B4-BE49-F238E27FC236}">
                <a16:creationId xmlns:a16="http://schemas.microsoft.com/office/drawing/2014/main" id="{B78C3A23-882F-4F63-65A1-4C52071592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63E8DC-0008-3CE6-3593-C97F845BB3E6}"/>
              </a:ext>
            </a:extLst>
          </p:cNvPr>
          <p:cNvSpPr>
            <a:spLocks noGrp="1"/>
          </p:cNvSpPr>
          <p:nvPr>
            <p:ph type="sldNum" sz="quarter" idx="12"/>
          </p:nvPr>
        </p:nvSpPr>
        <p:spPr/>
        <p:txBody>
          <a:bodyPr/>
          <a:lstStyle/>
          <a:p>
            <a:fld id="{03F67448-8E76-4088-8C0F-9DC880FFD75C}" type="slidenum">
              <a:rPr lang="en-IN" smtClean="0"/>
              <a:t>‹#›</a:t>
            </a:fld>
            <a:endParaRPr lang="en-IN"/>
          </a:p>
        </p:txBody>
      </p:sp>
    </p:spTree>
    <p:extLst>
      <p:ext uri="{BB962C8B-B14F-4D97-AF65-F5344CB8AC3E}">
        <p14:creationId xmlns:p14="http://schemas.microsoft.com/office/powerpoint/2010/main" val="1332014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12CEC21-FD8E-4D6C-A2FA-43FC25C629E3}"/>
              </a:ext>
            </a:extLst>
          </p:cNvPr>
          <p:cNvSpPr>
            <a:spLocks noGrp="1"/>
          </p:cNvSpPr>
          <p:nvPr>
            <p:ph type="pic" sz="quarter" idx="10"/>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txBody>
          <a:bodyPr wrap="square">
            <a:noAutofit/>
          </a:bodyPr>
          <a:lstStyle/>
          <a:p>
            <a:r>
              <a:rPr lang="en-US"/>
              <a:t>Click icon to add picture</a:t>
            </a:r>
            <a:endParaRPr lang="en-IN"/>
          </a:p>
        </p:txBody>
      </p:sp>
    </p:spTree>
    <p:extLst>
      <p:ext uri="{BB962C8B-B14F-4D97-AF65-F5344CB8AC3E}">
        <p14:creationId xmlns:p14="http://schemas.microsoft.com/office/powerpoint/2010/main" val="47449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F7346-18E5-9E8E-E882-41038BA4C70A}"/>
              </a:ext>
            </a:extLst>
          </p:cNvPr>
          <p:cNvSpPr>
            <a:spLocks noGrp="1"/>
          </p:cNvSpPr>
          <p:nvPr>
            <p:ph type="title"/>
          </p:nvPr>
        </p:nvSpPr>
        <p:spPr>
          <a:xfrm>
            <a:off x="838204" y="365126"/>
            <a:ext cx="9296400" cy="698502"/>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5067BE33-2258-EA19-9D7F-91944CAD8DD1}"/>
              </a:ext>
            </a:extLst>
          </p:cNvPr>
          <p:cNvSpPr>
            <a:spLocks noGrp="1"/>
          </p:cNvSpPr>
          <p:nvPr>
            <p:ph type="body" idx="1"/>
          </p:nvPr>
        </p:nvSpPr>
        <p:spPr>
          <a:xfrm>
            <a:off x="838204" y="1214207"/>
            <a:ext cx="10515600" cy="49627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8FCC2131-9910-F5A5-B865-B913CED0EEB7}"/>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F00A94-AA0F-4032-84AA-4728E7FB6F95}" type="datetime1">
              <a:rPr lang="en-IN" smtClean="0"/>
              <a:t>11-05-2026</a:t>
            </a:fld>
            <a:endParaRPr lang="en-IN"/>
          </a:p>
        </p:txBody>
      </p:sp>
      <p:sp>
        <p:nvSpPr>
          <p:cNvPr id="5" name="Footer Placeholder 4">
            <a:extLst>
              <a:ext uri="{FF2B5EF4-FFF2-40B4-BE49-F238E27FC236}">
                <a16:creationId xmlns:a16="http://schemas.microsoft.com/office/drawing/2014/main" id="{3284213A-0596-FEE6-4B82-362CB266DDDA}"/>
              </a:ext>
            </a:extLst>
          </p:cNvPr>
          <p:cNvSpPr>
            <a:spLocks noGrp="1"/>
          </p:cNvSpPr>
          <p:nvPr>
            <p:ph type="ftr" sz="quarter" idx="3"/>
          </p:nvPr>
        </p:nvSpPr>
        <p:spPr>
          <a:xfrm>
            <a:off x="4038604"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86CA75-1535-14BB-9F09-83E964119FB1}"/>
              </a:ext>
            </a:extLst>
          </p:cNvPr>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F67448-8E76-4088-8C0F-9DC880FFD75C}" type="slidenum">
              <a:rPr lang="en-IN" smtClean="0"/>
              <a:t>‹#›</a:t>
            </a:fld>
            <a:endParaRPr lang="en-IN" dirty="0"/>
          </a:p>
        </p:txBody>
      </p:sp>
      <p:cxnSp>
        <p:nvCxnSpPr>
          <p:cNvPr id="8" name="Straight Connector 7">
            <a:extLst>
              <a:ext uri="{FF2B5EF4-FFF2-40B4-BE49-F238E27FC236}">
                <a16:creationId xmlns:a16="http://schemas.microsoft.com/office/drawing/2014/main" id="{0A3E5E16-10A2-AAED-8F30-8B2D814E7516}"/>
              </a:ext>
            </a:extLst>
          </p:cNvPr>
          <p:cNvCxnSpPr>
            <a:cxnSpLocks/>
          </p:cNvCxnSpPr>
          <p:nvPr/>
        </p:nvCxnSpPr>
        <p:spPr>
          <a:xfrm>
            <a:off x="827314" y="1113749"/>
            <a:ext cx="10526485"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EA2CBCA-A37E-A234-53B5-947D80977681}"/>
              </a:ext>
            </a:extLst>
          </p:cNvPr>
          <p:cNvCxnSpPr/>
          <p:nvPr/>
        </p:nvCxnSpPr>
        <p:spPr>
          <a:xfrm>
            <a:off x="838204" y="6272667"/>
            <a:ext cx="10515600" cy="0"/>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46ECDDA8-E81A-2BAC-F325-C39F27FF4528}"/>
              </a:ext>
            </a:extLst>
          </p:cNvPr>
          <p:cNvGrpSpPr/>
          <p:nvPr/>
        </p:nvGrpSpPr>
        <p:grpSpPr>
          <a:xfrm>
            <a:off x="10472062" y="1023709"/>
            <a:ext cx="881740" cy="49899"/>
            <a:chOff x="10472059" y="1023707"/>
            <a:chExt cx="881740" cy="49899"/>
          </a:xfrm>
        </p:grpSpPr>
        <p:grpSp>
          <p:nvGrpSpPr>
            <p:cNvPr id="9" name="Group 8">
              <a:extLst>
                <a:ext uri="{FF2B5EF4-FFF2-40B4-BE49-F238E27FC236}">
                  <a16:creationId xmlns:a16="http://schemas.microsoft.com/office/drawing/2014/main" id="{FF565A3C-E2AE-E175-23D7-2871C255FF66}"/>
                </a:ext>
              </a:extLst>
            </p:cNvPr>
            <p:cNvGrpSpPr/>
            <p:nvPr/>
          </p:nvGrpSpPr>
          <p:grpSpPr>
            <a:xfrm>
              <a:off x="10918372" y="1024176"/>
              <a:ext cx="435427" cy="49430"/>
              <a:chOff x="10918372" y="1024176"/>
              <a:chExt cx="435427" cy="49430"/>
            </a:xfrm>
          </p:grpSpPr>
          <p:sp>
            <p:nvSpPr>
              <p:cNvPr id="12" name="Rectangle: Single Corner Snipped 11">
                <a:extLst>
                  <a:ext uri="{FF2B5EF4-FFF2-40B4-BE49-F238E27FC236}">
                    <a16:creationId xmlns:a16="http://schemas.microsoft.com/office/drawing/2014/main" id="{9F83BBE8-7AF6-FEF7-1C8C-71E9B3DAE424}"/>
                  </a:ext>
                </a:extLst>
              </p:cNvPr>
              <p:cNvSpPr/>
              <p:nvPr/>
            </p:nvSpPr>
            <p:spPr>
              <a:xfrm>
                <a:off x="11146971" y="1024176"/>
                <a:ext cx="206828" cy="49430"/>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7" name="Rectangle: Single Corner Snipped 6">
                <a:extLst>
                  <a:ext uri="{FF2B5EF4-FFF2-40B4-BE49-F238E27FC236}">
                    <a16:creationId xmlns:a16="http://schemas.microsoft.com/office/drawing/2014/main" id="{DEBA32B2-4547-3EE1-474B-F2FA0779E3A7}"/>
                  </a:ext>
                </a:extLst>
              </p:cNvPr>
              <p:cNvSpPr/>
              <p:nvPr/>
            </p:nvSpPr>
            <p:spPr>
              <a:xfrm>
                <a:off x="10918372" y="1024177"/>
                <a:ext cx="206828" cy="49429"/>
              </a:xfrm>
              <a:prstGeom prst="snip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grpSp>
        <p:grpSp>
          <p:nvGrpSpPr>
            <p:cNvPr id="14" name="Group 13">
              <a:extLst>
                <a:ext uri="{FF2B5EF4-FFF2-40B4-BE49-F238E27FC236}">
                  <a16:creationId xmlns:a16="http://schemas.microsoft.com/office/drawing/2014/main" id="{6963D3AE-1E5F-C031-C260-271864E0AE76}"/>
                </a:ext>
              </a:extLst>
            </p:cNvPr>
            <p:cNvGrpSpPr/>
            <p:nvPr/>
          </p:nvGrpSpPr>
          <p:grpSpPr>
            <a:xfrm>
              <a:off x="10472059" y="1023707"/>
              <a:ext cx="435427" cy="49430"/>
              <a:chOff x="10918372" y="1024176"/>
              <a:chExt cx="435427" cy="49430"/>
            </a:xfrm>
          </p:grpSpPr>
          <p:sp>
            <p:nvSpPr>
              <p:cNvPr id="15" name="Rectangle: Single Corner Snipped 14">
                <a:extLst>
                  <a:ext uri="{FF2B5EF4-FFF2-40B4-BE49-F238E27FC236}">
                    <a16:creationId xmlns:a16="http://schemas.microsoft.com/office/drawing/2014/main" id="{9CD76FA1-6888-BC28-EECA-938FC3B8E4EB}"/>
                  </a:ext>
                </a:extLst>
              </p:cNvPr>
              <p:cNvSpPr/>
              <p:nvPr/>
            </p:nvSpPr>
            <p:spPr>
              <a:xfrm>
                <a:off x="11146971" y="1024176"/>
                <a:ext cx="206828" cy="49430"/>
              </a:xfrm>
              <a:prstGeom prst="snip1Rect">
                <a:avLst>
                  <a:gd name="adj"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sp>
            <p:nvSpPr>
              <p:cNvPr id="16" name="Rectangle: Single Corner Snipped 15">
                <a:extLst>
                  <a:ext uri="{FF2B5EF4-FFF2-40B4-BE49-F238E27FC236}">
                    <a16:creationId xmlns:a16="http://schemas.microsoft.com/office/drawing/2014/main" id="{878C3A61-B110-FE03-21FB-1BE887A559D4}"/>
                  </a:ext>
                </a:extLst>
              </p:cNvPr>
              <p:cNvSpPr/>
              <p:nvPr/>
            </p:nvSpPr>
            <p:spPr>
              <a:xfrm>
                <a:off x="10918372" y="1024177"/>
                <a:ext cx="206828" cy="49429"/>
              </a:xfrm>
              <a:prstGeom prst="snip1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grpSp>
      </p:grpSp>
      <p:grpSp>
        <p:nvGrpSpPr>
          <p:cNvPr id="18" name="Group 17">
            <a:extLst>
              <a:ext uri="{FF2B5EF4-FFF2-40B4-BE49-F238E27FC236}">
                <a16:creationId xmlns:a16="http://schemas.microsoft.com/office/drawing/2014/main" id="{CF846BAF-4509-D234-2BA2-9A1FB99AE3BE}"/>
              </a:ext>
            </a:extLst>
          </p:cNvPr>
          <p:cNvGrpSpPr/>
          <p:nvPr/>
        </p:nvGrpSpPr>
        <p:grpSpPr>
          <a:xfrm flipV="1">
            <a:off x="859974" y="6308730"/>
            <a:ext cx="3135084" cy="71645"/>
            <a:chOff x="10472059" y="1023707"/>
            <a:chExt cx="881740" cy="49899"/>
          </a:xfrm>
        </p:grpSpPr>
        <p:grpSp>
          <p:nvGrpSpPr>
            <p:cNvPr id="19" name="Group 18">
              <a:extLst>
                <a:ext uri="{FF2B5EF4-FFF2-40B4-BE49-F238E27FC236}">
                  <a16:creationId xmlns:a16="http://schemas.microsoft.com/office/drawing/2014/main" id="{3479F2F6-6398-4D1B-FBF0-2B42C46F2B21}"/>
                </a:ext>
              </a:extLst>
            </p:cNvPr>
            <p:cNvGrpSpPr/>
            <p:nvPr/>
          </p:nvGrpSpPr>
          <p:grpSpPr>
            <a:xfrm>
              <a:off x="10918372" y="1024176"/>
              <a:ext cx="435427" cy="49430"/>
              <a:chOff x="10918372" y="1024176"/>
              <a:chExt cx="435427" cy="49430"/>
            </a:xfrm>
          </p:grpSpPr>
          <p:sp>
            <p:nvSpPr>
              <p:cNvPr id="23" name="Rectangle: Single Corner Snipped 22">
                <a:extLst>
                  <a:ext uri="{FF2B5EF4-FFF2-40B4-BE49-F238E27FC236}">
                    <a16:creationId xmlns:a16="http://schemas.microsoft.com/office/drawing/2014/main" id="{DFA47EF9-A9B4-1744-8CEA-7D62BD1BA0DD}"/>
                  </a:ext>
                </a:extLst>
              </p:cNvPr>
              <p:cNvSpPr/>
              <p:nvPr/>
            </p:nvSpPr>
            <p:spPr>
              <a:xfrm>
                <a:off x="11146971" y="1024176"/>
                <a:ext cx="206828" cy="49430"/>
              </a:xfrm>
              <a:prstGeom prst="snip1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24" name="Rectangle: Single Corner Snipped 23">
                <a:extLst>
                  <a:ext uri="{FF2B5EF4-FFF2-40B4-BE49-F238E27FC236}">
                    <a16:creationId xmlns:a16="http://schemas.microsoft.com/office/drawing/2014/main" id="{91C1E7F3-8691-C2A0-F68D-7548E903F447}"/>
                  </a:ext>
                </a:extLst>
              </p:cNvPr>
              <p:cNvSpPr/>
              <p:nvPr/>
            </p:nvSpPr>
            <p:spPr>
              <a:xfrm>
                <a:off x="10918372" y="1024177"/>
                <a:ext cx="206828" cy="49429"/>
              </a:xfrm>
              <a:prstGeom prst="snip1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1"/>
              </a:p>
            </p:txBody>
          </p:sp>
        </p:grpSp>
        <p:grpSp>
          <p:nvGrpSpPr>
            <p:cNvPr id="20" name="Group 19">
              <a:extLst>
                <a:ext uri="{FF2B5EF4-FFF2-40B4-BE49-F238E27FC236}">
                  <a16:creationId xmlns:a16="http://schemas.microsoft.com/office/drawing/2014/main" id="{D8C1B72C-EC65-9A9F-4657-CE299F2E706F}"/>
                </a:ext>
              </a:extLst>
            </p:cNvPr>
            <p:cNvGrpSpPr/>
            <p:nvPr/>
          </p:nvGrpSpPr>
          <p:grpSpPr>
            <a:xfrm>
              <a:off x="10472059" y="1023707"/>
              <a:ext cx="435427" cy="49430"/>
              <a:chOff x="10918372" y="1024176"/>
              <a:chExt cx="435427" cy="49430"/>
            </a:xfrm>
          </p:grpSpPr>
          <p:sp>
            <p:nvSpPr>
              <p:cNvPr id="21" name="Rectangle: Single Corner Snipped 20">
                <a:extLst>
                  <a:ext uri="{FF2B5EF4-FFF2-40B4-BE49-F238E27FC236}">
                    <a16:creationId xmlns:a16="http://schemas.microsoft.com/office/drawing/2014/main" id="{A89642AA-842A-1429-285F-2B6D229B2DD5}"/>
                  </a:ext>
                </a:extLst>
              </p:cNvPr>
              <p:cNvSpPr/>
              <p:nvPr/>
            </p:nvSpPr>
            <p:spPr>
              <a:xfrm>
                <a:off x="11146971" y="1024176"/>
                <a:ext cx="206828" cy="49430"/>
              </a:xfrm>
              <a:prstGeom prst="snip1Rect">
                <a:avLst>
                  <a:gd name="adj"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sp>
            <p:nvSpPr>
              <p:cNvPr id="22" name="Rectangle: Single Corner Snipped 21">
                <a:extLst>
                  <a:ext uri="{FF2B5EF4-FFF2-40B4-BE49-F238E27FC236}">
                    <a16:creationId xmlns:a16="http://schemas.microsoft.com/office/drawing/2014/main" id="{8A182473-5DCE-FA8E-AFFD-81648C5D2371}"/>
                  </a:ext>
                </a:extLst>
              </p:cNvPr>
              <p:cNvSpPr/>
              <p:nvPr/>
            </p:nvSpPr>
            <p:spPr>
              <a:xfrm>
                <a:off x="10918372" y="1024177"/>
                <a:ext cx="206828" cy="49429"/>
              </a:xfrm>
              <a:prstGeom prst="snip1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1"/>
              </a:p>
            </p:txBody>
          </p:sp>
        </p:grpSp>
      </p:grpSp>
      <p:pic>
        <p:nvPicPr>
          <p:cNvPr id="28" name="Picture 27" descr="A red and blue text on a white background&#10;&#10;AI-generated content may be incorrect.">
            <a:extLst>
              <a:ext uri="{FF2B5EF4-FFF2-40B4-BE49-F238E27FC236}">
                <a16:creationId xmlns:a16="http://schemas.microsoft.com/office/drawing/2014/main" id="{352C47E1-893F-ADB1-A23E-6CF5CCFC858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880528" y="10860"/>
            <a:ext cx="2304288" cy="640080"/>
          </a:xfrm>
          <a:prstGeom prst="rect">
            <a:avLst/>
          </a:prstGeom>
        </p:spPr>
      </p:pic>
      <p:sp>
        <p:nvSpPr>
          <p:cNvPr id="11" name="TextBox 10">
            <a:extLst>
              <a:ext uri="{FF2B5EF4-FFF2-40B4-BE49-F238E27FC236}">
                <a16:creationId xmlns:a16="http://schemas.microsoft.com/office/drawing/2014/main" id="{26150659-E2D5-F9A1-66D2-2E43FC0560D2}"/>
              </a:ext>
            </a:extLst>
          </p:cNvPr>
          <p:cNvSpPr txBox="1"/>
          <p:nvPr userDrawn="1"/>
        </p:nvSpPr>
        <p:spPr>
          <a:xfrm>
            <a:off x="854932" y="6317861"/>
            <a:ext cx="10493828" cy="369332"/>
          </a:xfrm>
          <a:prstGeom prst="rect">
            <a:avLst/>
          </a:prstGeom>
          <a:solidFill>
            <a:srgbClr val="CCECFF"/>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IN" b="1" dirty="0">
                <a:effectLst/>
                <a:latin typeface="Times New Roman" panose="02020603050405020304" pitchFamily="18" charset="0"/>
                <a:cs typeface="Times New Roman" panose="02020603050405020304" pitchFamily="18" charset="0"/>
              </a:rPr>
              <a:t>Department of Advanced Computer Science and Engineering</a:t>
            </a:r>
          </a:p>
        </p:txBody>
      </p:sp>
    </p:spTree>
    <p:extLst>
      <p:ext uri="{BB962C8B-B14F-4D97-AF65-F5344CB8AC3E}">
        <p14:creationId xmlns:p14="http://schemas.microsoft.com/office/powerpoint/2010/main" val="989196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11"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Times New Roman" panose="02020603050405020304" pitchFamily="18" charset="0"/>
          <a:ea typeface="+mn-ea"/>
          <a:cs typeface="Times New Roman" panose="02020603050405020304" pitchFamily="18" charset="0"/>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Times New Roman" panose="02020603050405020304" pitchFamily="18" charset="0"/>
          <a:ea typeface="+mn-ea"/>
          <a:cs typeface="Times New Roman" panose="02020603050405020304" pitchFamily="18" charset="0"/>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20B72C-664B-FD5C-EDA6-0784C51EA99D}"/>
              </a:ext>
            </a:extLst>
          </p:cNvPr>
          <p:cNvSpPr>
            <a:spLocks noGrp="1" noRot="1" noMove="1" noResize="1" noEditPoints="1" noAdjustHandles="1" noChangeArrowheads="1" noChangeShapeType="1"/>
          </p:cNvSpPr>
          <p:nvPr/>
        </p:nvSpPr>
        <p:spPr>
          <a:xfrm>
            <a:off x="0" y="-1"/>
            <a:ext cx="12192000" cy="1516284"/>
          </a:xfrm>
          <a:prstGeom prst="rect">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t>A Semi-Autonomous SIEM–SOAR Framework for Anomaly-Based Security Operations with Human-in-the-Loop Learning</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B115080-8C3C-C43E-1CDF-E3955B2D02EC}"/>
              </a:ext>
            </a:extLst>
          </p:cNvPr>
          <p:cNvSpPr txBox="1"/>
          <p:nvPr/>
        </p:nvSpPr>
        <p:spPr>
          <a:xfrm>
            <a:off x="1866104" y="5341717"/>
            <a:ext cx="8459791" cy="150810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Department of Advanced Computer Science and Engineering</a:t>
            </a:r>
          </a:p>
          <a:p>
            <a:pPr algn="ctr"/>
            <a:r>
              <a:rPr lang="en-IN" sz="2400" dirty="0">
                <a:latin typeface="Times New Roman" panose="02020603050405020304" pitchFamily="18" charset="0"/>
                <a:cs typeface="Times New Roman" panose="02020603050405020304" pitchFamily="18" charset="0"/>
              </a:rPr>
              <a:t>School of Computing and Informatics</a:t>
            </a:r>
          </a:p>
          <a:p>
            <a:pPr algn="ctr"/>
            <a:r>
              <a:rPr lang="en-IN" sz="2400" dirty="0">
                <a:latin typeface="Times New Roman" panose="02020603050405020304" pitchFamily="18" charset="0"/>
                <a:cs typeface="Times New Roman" panose="02020603050405020304" pitchFamily="18" charset="0"/>
              </a:rPr>
              <a:t>Vignan’s Foundation for Science, Technology &amp; Research </a:t>
            </a:r>
          </a:p>
          <a:p>
            <a:pPr algn="ctr"/>
            <a:r>
              <a:rPr lang="en-IN" sz="2000" dirty="0">
                <a:latin typeface="Times New Roman" panose="02020603050405020304" pitchFamily="18" charset="0"/>
                <a:cs typeface="Times New Roman" panose="02020603050405020304" pitchFamily="18" charset="0"/>
              </a:rPr>
              <a:t>(Deemed to be University)</a:t>
            </a:r>
            <a:endParaRPr lang="en-IN" sz="24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CA4977C-3EF7-5456-51AA-379A10BFA54D}"/>
              </a:ext>
            </a:extLst>
          </p:cNvPr>
          <p:cNvSpPr>
            <a:spLocks noGrp="1"/>
          </p:cNvSpPr>
          <p:nvPr>
            <p:ph type="sldNum" sz="quarter" idx="12"/>
          </p:nvPr>
        </p:nvSpPr>
        <p:spPr/>
        <p:txBody>
          <a:bodyPr/>
          <a:lstStyle/>
          <a:p>
            <a:fld id="{03F67448-8E76-4088-8C0F-9DC880FFD75C}" type="slidenum">
              <a:rPr lang="en-IN" smtClean="0"/>
              <a:t>1</a:t>
            </a:fld>
            <a:endParaRPr lang="en-IN"/>
          </a:p>
        </p:txBody>
      </p:sp>
      <p:sp>
        <p:nvSpPr>
          <p:cNvPr id="3" name="Subtitle 2">
            <a:extLst>
              <a:ext uri="{FF2B5EF4-FFF2-40B4-BE49-F238E27FC236}">
                <a16:creationId xmlns:a16="http://schemas.microsoft.com/office/drawing/2014/main" id="{16E41B38-EA95-F065-4E67-CC7EA9DD63CE}"/>
              </a:ext>
            </a:extLst>
          </p:cNvPr>
          <p:cNvSpPr txBox="1">
            <a:spLocks/>
          </p:cNvSpPr>
          <p:nvPr/>
        </p:nvSpPr>
        <p:spPr>
          <a:xfrm>
            <a:off x="3744901" y="1516283"/>
            <a:ext cx="4324155" cy="2734871"/>
          </a:xfrm>
          <a:prstGeom prst="rect">
            <a:avLst/>
          </a:prstGeom>
        </p:spPr>
        <p:txBody>
          <a:bodyPr vert="horz" lIns="91440" tIns="45721" rIns="91440" bIns="45721"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210000"/>
              </a:lnSpc>
              <a:spcBef>
                <a:spcPts val="0"/>
              </a:spcBef>
            </a:pPr>
            <a:r>
              <a:rPr lang="en-IN" sz="2800" b="1" dirty="0">
                <a:ln w="0"/>
                <a:solidFill>
                  <a:srgbClr val="7030A0"/>
                </a:solidFill>
                <a:effectLst>
                  <a:outerShdw blurRad="38100" dist="19050" dir="2700000" algn="tl" rotWithShape="0">
                    <a:schemeClr val="dk1">
                      <a:alpha val="40000"/>
                    </a:schemeClr>
                  </a:outerShdw>
                </a:effectLst>
              </a:rPr>
              <a:t>Presented by</a:t>
            </a:r>
          </a:p>
          <a:p>
            <a:pPr>
              <a:spcBef>
                <a:spcPts val="0"/>
              </a:spcBef>
            </a:pPr>
            <a:r>
              <a:rPr lang="en-IN" dirty="0"/>
              <a:t> Venkateswara </a:t>
            </a:r>
            <a:r>
              <a:rPr lang="en-IN" dirty="0" err="1"/>
              <a:t>rao</a:t>
            </a:r>
            <a:r>
              <a:rPr lang="en-IN" dirty="0"/>
              <a:t> (221FA19020)</a:t>
            </a:r>
          </a:p>
          <a:p>
            <a:pPr>
              <a:spcBef>
                <a:spcPts val="0"/>
              </a:spcBef>
            </a:pPr>
            <a:r>
              <a:rPr lang="en-IN" dirty="0"/>
              <a:t>Niteesh Babu (221FA19030)</a:t>
            </a:r>
          </a:p>
          <a:p>
            <a:pPr>
              <a:spcBef>
                <a:spcPts val="0"/>
              </a:spcBef>
            </a:pPr>
            <a:r>
              <a:rPr lang="en-IN" dirty="0"/>
              <a:t>Tarun Kumar Reddy (221FA19057)</a:t>
            </a:r>
          </a:p>
          <a:p>
            <a:pPr>
              <a:spcBef>
                <a:spcPts val="0"/>
              </a:spcBef>
            </a:pPr>
            <a:r>
              <a:rPr lang="en-IN" dirty="0"/>
              <a:t>Saugat Chaudhary (221FA19066)</a:t>
            </a:r>
          </a:p>
          <a:p>
            <a:pPr>
              <a:spcBef>
                <a:spcPts val="0"/>
              </a:spcBef>
            </a:pPr>
            <a:endParaRPr lang="en-IN" dirty="0"/>
          </a:p>
          <a:p>
            <a:pPr>
              <a:spcBef>
                <a:spcPts val="0"/>
              </a:spcBef>
            </a:pPr>
            <a:endParaRPr lang="en-IN" dirty="0"/>
          </a:p>
          <a:p>
            <a:r>
              <a:rPr lang="en-IN" sz="2000" b="1" dirty="0"/>
              <a:t>Under the Supervision of</a:t>
            </a:r>
          </a:p>
          <a:p>
            <a:pPr>
              <a:lnSpc>
                <a:spcPct val="100000"/>
              </a:lnSpc>
              <a:spcBef>
                <a:spcPts val="0"/>
              </a:spcBef>
            </a:pPr>
            <a:r>
              <a:rPr lang="en-IN" dirty="0">
                <a:solidFill>
                  <a:srgbClr val="8A18B8"/>
                </a:solidFill>
              </a:rPr>
              <a:t>Dr. P.M Benson Mansingh</a:t>
            </a:r>
          </a:p>
          <a:p>
            <a:pPr>
              <a:lnSpc>
                <a:spcPct val="100000"/>
              </a:lnSpc>
              <a:spcBef>
                <a:spcPts val="0"/>
              </a:spcBef>
            </a:pPr>
            <a:r>
              <a:rPr lang="en-IN" dirty="0"/>
              <a:t>Professor, ACSE</a:t>
            </a:r>
          </a:p>
        </p:txBody>
      </p:sp>
      <p:pic>
        <p:nvPicPr>
          <p:cNvPr id="7" name="Picture 6" descr="Logo VFSTR&#10;">
            <a:extLst>
              <a:ext uri="{FF2B5EF4-FFF2-40B4-BE49-F238E27FC236}">
                <a16:creationId xmlns:a16="http://schemas.microsoft.com/office/drawing/2014/main" id="{F52B69C2-08CE-5BC1-E950-F23C94F43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6926" y="4313029"/>
            <a:ext cx="3060107" cy="850028"/>
          </a:xfrm>
          <a:prstGeom prst="rect">
            <a:avLst/>
          </a:prstGeom>
        </p:spPr>
      </p:pic>
    </p:spTree>
    <p:extLst>
      <p:ext uri="{BB962C8B-B14F-4D97-AF65-F5344CB8AC3E}">
        <p14:creationId xmlns:p14="http://schemas.microsoft.com/office/powerpoint/2010/main" val="1181822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C79A3-5261-5469-AEB0-09D73D643AA0}"/>
              </a:ext>
            </a:extLst>
          </p:cNvPr>
          <p:cNvSpPr>
            <a:spLocks noGrp="1"/>
          </p:cNvSpPr>
          <p:nvPr>
            <p:ph type="title"/>
          </p:nvPr>
        </p:nvSpPr>
        <p:spPr/>
        <p:txBody>
          <a:bodyPr/>
          <a:lstStyle/>
          <a:p>
            <a:r>
              <a:rPr lang="en-US" dirty="0"/>
              <a:t>Index</a:t>
            </a:r>
            <a:endParaRPr lang="en-IN" dirty="0"/>
          </a:p>
        </p:txBody>
      </p:sp>
      <p:sp>
        <p:nvSpPr>
          <p:cNvPr id="4" name="Slide Number Placeholder 3">
            <a:extLst>
              <a:ext uri="{FF2B5EF4-FFF2-40B4-BE49-F238E27FC236}">
                <a16:creationId xmlns:a16="http://schemas.microsoft.com/office/drawing/2014/main" id="{9489EA3B-86DF-A4C7-D829-3C3809EEE436}"/>
              </a:ext>
            </a:extLst>
          </p:cNvPr>
          <p:cNvSpPr>
            <a:spLocks noGrp="1"/>
          </p:cNvSpPr>
          <p:nvPr>
            <p:ph type="sldNum" sz="quarter" idx="12"/>
          </p:nvPr>
        </p:nvSpPr>
        <p:spPr/>
        <p:txBody>
          <a:bodyPr/>
          <a:lstStyle/>
          <a:p>
            <a:fld id="{03F67448-8E76-4088-8C0F-9DC880FFD75C}" type="slidenum">
              <a:rPr lang="en-IN" smtClean="0"/>
              <a:t>2</a:t>
            </a:fld>
            <a:endParaRPr lang="en-IN"/>
          </a:p>
        </p:txBody>
      </p:sp>
      <p:sp>
        <p:nvSpPr>
          <p:cNvPr id="6" name="Content Placeholder 5">
            <a:extLst>
              <a:ext uri="{FF2B5EF4-FFF2-40B4-BE49-F238E27FC236}">
                <a16:creationId xmlns:a16="http://schemas.microsoft.com/office/drawing/2014/main" id="{0F3E9265-A658-C13C-7C22-A9AAAB515D16}"/>
              </a:ext>
            </a:extLst>
          </p:cNvPr>
          <p:cNvSpPr>
            <a:spLocks noGrp="1"/>
          </p:cNvSpPr>
          <p:nvPr>
            <p:ph idx="1"/>
          </p:nvPr>
        </p:nvSpPr>
        <p:spPr>
          <a:xfrm>
            <a:off x="838199" y="1344160"/>
            <a:ext cx="10624453" cy="5012192"/>
          </a:xfrm>
        </p:spPr>
        <p:txBody>
          <a:bodyPr>
            <a:normAutofit lnSpcReduction="10000"/>
          </a:bodyPr>
          <a:lstStyle/>
          <a:p>
            <a:r>
              <a:rPr lang="en-US" dirty="0"/>
              <a:t>Introduction</a:t>
            </a:r>
          </a:p>
          <a:p>
            <a:pPr marL="0" indent="0">
              <a:buNone/>
            </a:pPr>
            <a:r>
              <a:rPr lang="en-US" dirty="0"/>
              <a:t>• Literature Review</a:t>
            </a:r>
          </a:p>
          <a:p>
            <a:pPr marL="0" indent="0">
              <a:buNone/>
            </a:pPr>
            <a:r>
              <a:rPr lang="en-US" dirty="0"/>
              <a:t>• Problem Statement</a:t>
            </a:r>
          </a:p>
          <a:p>
            <a:pPr marL="0" indent="0">
              <a:buNone/>
            </a:pPr>
            <a:r>
              <a:rPr lang="en-US" dirty="0"/>
              <a:t>• Motivation</a:t>
            </a:r>
          </a:p>
          <a:p>
            <a:pPr marL="0" indent="0">
              <a:buNone/>
            </a:pPr>
            <a:r>
              <a:rPr lang="en-US" dirty="0"/>
              <a:t>• Methodology</a:t>
            </a:r>
          </a:p>
          <a:p>
            <a:pPr marL="0" indent="0">
              <a:buNone/>
            </a:pPr>
            <a:r>
              <a:rPr lang="en-US" dirty="0"/>
              <a:t>• Algorithm / Workflow</a:t>
            </a:r>
          </a:p>
          <a:p>
            <a:pPr marL="0" indent="0">
              <a:buNone/>
            </a:pPr>
            <a:r>
              <a:rPr lang="en-US" dirty="0"/>
              <a:t>• Architecture Diagram</a:t>
            </a:r>
          </a:p>
          <a:p>
            <a:pPr marL="0" indent="0">
              <a:buNone/>
            </a:pPr>
            <a:r>
              <a:rPr lang="en-US" dirty="0"/>
              <a:t>• Results and Analysis</a:t>
            </a:r>
          </a:p>
          <a:p>
            <a:pPr marL="0" indent="0">
              <a:buNone/>
            </a:pPr>
            <a:r>
              <a:rPr lang="en-US" dirty="0"/>
              <a:t>• Conclusion</a:t>
            </a:r>
          </a:p>
          <a:p>
            <a:pPr marL="0" indent="0">
              <a:buNone/>
            </a:pPr>
            <a:r>
              <a:rPr lang="en-US" dirty="0"/>
              <a:t>• References</a:t>
            </a:r>
            <a:endParaRPr lang="en-IN" dirty="0"/>
          </a:p>
        </p:txBody>
      </p:sp>
    </p:spTree>
    <p:extLst>
      <p:ext uri="{BB962C8B-B14F-4D97-AF65-F5344CB8AC3E}">
        <p14:creationId xmlns:p14="http://schemas.microsoft.com/office/powerpoint/2010/main" val="1444717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14081-4DD1-9A22-F327-5B7C9999A700}"/>
              </a:ext>
            </a:extLst>
          </p:cNvPr>
          <p:cNvSpPr>
            <a:spLocks noGrp="1"/>
          </p:cNvSpPr>
          <p:nvPr>
            <p:ph type="title"/>
          </p:nvPr>
        </p:nvSpPr>
        <p:spPr/>
        <p:txBody>
          <a:bodyPr/>
          <a:lstStyle/>
          <a:p>
            <a:r>
              <a:rPr lang="en-US" b="1" dirty="0"/>
              <a:t>Introduction</a:t>
            </a:r>
            <a:endParaRPr lang="en-IN" b="1" dirty="0"/>
          </a:p>
        </p:txBody>
      </p:sp>
      <p:sp>
        <p:nvSpPr>
          <p:cNvPr id="3" name="Slide Number Placeholder 2">
            <a:extLst>
              <a:ext uri="{FF2B5EF4-FFF2-40B4-BE49-F238E27FC236}">
                <a16:creationId xmlns:a16="http://schemas.microsoft.com/office/drawing/2014/main" id="{B26ED67D-A633-2E42-D046-92F7D0E145B5}"/>
              </a:ext>
            </a:extLst>
          </p:cNvPr>
          <p:cNvSpPr>
            <a:spLocks noGrp="1"/>
          </p:cNvSpPr>
          <p:nvPr>
            <p:ph type="sldNum" sz="quarter" idx="12"/>
          </p:nvPr>
        </p:nvSpPr>
        <p:spPr/>
        <p:txBody>
          <a:bodyPr/>
          <a:lstStyle/>
          <a:p>
            <a:fld id="{03F67448-8E76-4088-8C0F-9DC880FFD75C}" type="slidenum">
              <a:rPr lang="en-IN" smtClean="0"/>
              <a:t>3</a:t>
            </a:fld>
            <a:endParaRPr lang="en-IN"/>
          </a:p>
        </p:txBody>
      </p:sp>
      <p:sp>
        <p:nvSpPr>
          <p:cNvPr id="6" name="Content Placeholder 5">
            <a:extLst>
              <a:ext uri="{FF2B5EF4-FFF2-40B4-BE49-F238E27FC236}">
                <a16:creationId xmlns:a16="http://schemas.microsoft.com/office/drawing/2014/main" id="{7706A2DB-B525-F8BC-8958-D9C4CAC16155}"/>
              </a:ext>
            </a:extLst>
          </p:cNvPr>
          <p:cNvSpPr>
            <a:spLocks noGrp="1"/>
          </p:cNvSpPr>
          <p:nvPr>
            <p:ph idx="1"/>
          </p:nvPr>
        </p:nvSpPr>
        <p:spPr>
          <a:xfrm>
            <a:off x="838204" y="1228611"/>
            <a:ext cx="11353796" cy="5127741"/>
          </a:xfrm>
        </p:spPr>
        <p:txBody>
          <a:bodyPr vert="horz" lIns="91440" tIns="45720" rIns="91440" bIns="45720" rtlCol="0" anchor="t">
            <a:normAutofit fontScale="70000" lnSpcReduction="20000"/>
          </a:bodyPr>
          <a:lstStyle/>
          <a:p>
            <a:r>
              <a:rPr lang="en-IN" dirty="0"/>
              <a:t>Modern enterprise environments generate massive volumes of security telemetry from networks, cloud systems, authentication services, and endpoints. </a:t>
            </a:r>
          </a:p>
          <a:p>
            <a:r>
              <a:rPr lang="en-IN" dirty="0"/>
              <a:t>Traditional SIEM systems rely on static rules and signature-based detection, making them ineffective against zero-day attacks, insider threats, and evolving attack patterns. </a:t>
            </a:r>
          </a:p>
          <a:p>
            <a:r>
              <a:rPr lang="en-IN" dirty="0"/>
              <a:t>SOC analysts face challenges such as alert fatigue, high false positives, and delayed incident response. </a:t>
            </a:r>
          </a:p>
          <a:p>
            <a:r>
              <a:rPr lang="en-IN" dirty="0"/>
              <a:t>Machine learning–based anomaly detection helps identify unknown threats by learning normal </a:t>
            </a:r>
            <a:r>
              <a:rPr lang="en-IN" dirty="0" err="1"/>
              <a:t>behavioral</a:t>
            </a:r>
            <a:r>
              <a:rPr lang="en-IN" dirty="0"/>
              <a:t> patterns. </a:t>
            </a:r>
          </a:p>
          <a:p>
            <a:r>
              <a:rPr lang="en-IN" dirty="0"/>
              <a:t>This project proposes a semi-autonomous SIEM–SOAR framework integrating: </a:t>
            </a:r>
          </a:p>
          <a:p>
            <a:pPr lvl="1"/>
            <a:r>
              <a:rPr lang="en-IN" dirty="0"/>
              <a:t>Isolation Forest anomaly detection </a:t>
            </a:r>
          </a:p>
          <a:p>
            <a:pPr lvl="1"/>
            <a:r>
              <a:rPr lang="en-IN" dirty="0"/>
              <a:t>ELK Stack SIEM monitoring </a:t>
            </a:r>
          </a:p>
          <a:p>
            <a:pPr lvl="1"/>
            <a:r>
              <a:rPr lang="en-IN" dirty="0"/>
              <a:t>Shuffle SOAR automation </a:t>
            </a:r>
          </a:p>
          <a:p>
            <a:pPr lvl="1"/>
            <a:r>
              <a:rPr lang="en-IN" dirty="0"/>
              <a:t>Human-in-the-loop validation </a:t>
            </a:r>
          </a:p>
          <a:p>
            <a:pPr marL="0" indent="0">
              <a:buNone/>
            </a:pPr>
            <a:r>
              <a:rPr lang="en-IN" b="1" dirty="0"/>
              <a:t> Objectives</a:t>
            </a:r>
          </a:p>
          <a:p>
            <a:r>
              <a:rPr lang="en-IN" dirty="0"/>
              <a:t>Detect abnormal </a:t>
            </a:r>
            <a:r>
              <a:rPr lang="en-IN" dirty="0" err="1"/>
              <a:t>behavior</a:t>
            </a:r>
            <a:r>
              <a:rPr lang="en-IN" dirty="0"/>
              <a:t> using anomaly-based machine learning </a:t>
            </a:r>
          </a:p>
          <a:p>
            <a:r>
              <a:rPr lang="en-IN" dirty="0"/>
              <a:t>Reduce alert overload using intelligent prioritization </a:t>
            </a:r>
          </a:p>
          <a:p>
            <a:r>
              <a:rPr lang="en-IN" dirty="0"/>
              <a:t>Provide centralized monitoring and visualization </a:t>
            </a:r>
          </a:p>
          <a:p>
            <a:r>
              <a:rPr lang="en-IN" dirty="0"/>
              <a:t>Maintain analyst supervision over critical response actions</a:t>
            </a:r>
          </a:p>
        </p:txBody>
      </p:sp>
    </p:spTree>
    <p:extLst>
      <p:ext uri="{BB962C8B-B14F-4D97-AF65-F5344CB8AC3E}">
        <p14:creationId xmlns:p14="http://schemas.microsoft.com/office/powerpoint/2010/main" val="73597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6A300-0201-B4A9-150E-3878D099B049}"/>
              </a:ext>
            </a:extLst>
          </p:cNvPr>
          <p:cNvSpPr>
            <a:spLocks noGrp="1"/>
          </p:cNvSpPr>
          <p:nvPr>
            <p:ph type="title"/>
          </p:nvPr>
        </p:nvSpPr>
        <p:spPr>
          <a:xfrm>
            <a:off x="838203" y="136523"/>
            <a:ext cx="9296400" cy="698502"/>
          </a:xfrm>
        </p:spPr>
        <p:txBody>
          <a:bodyPr/>
          <a:lstStyle/>
          <a:p>
            <a:r>
              <a:rPr lang="en-IN" b="1" dirty="0"/>
              <a:t>Literature Review</a:t>
            </a:r>
          </a:p>
        </p:txBody>
      </p:sp>
      <p:sp>
        <p:nvSpPr>
          <p:cNvPr id="4" name="Slide Number Placeholder 3">
            <a:extLst>
              <a:ext uri="{FF2B5EF4-FFF2-40B4-BE49-F238E27FC236}">
                <a16:creationId xmlns:a16="http://schemas.microsoft.com/office/drawing/2014/main" id="{1A7A0EB4-A143-0150-E03A-FC84FDEC71D4}"/>
              </a:ext>
            </a:extLst>
          </p:cNvPr>
          <p:cNvSpPr>
            <a:spLocks noGrp="1"/>
          </p:cNvSpPr>
          <p:nvPr>
            <p:ph type="sldNum" sz="quarter" idx="12"/>
          </p:nvPr>
        </p:nvSpPr>
        <p:spPr/>
        <p:txBody>
          <a:bodyPr/>
          <a:lstStyle/>
          <a:p>
            <a:fld id="{03F67448-8E76-4088-8C0F-9DC880FFD75C}" type="slidenum">
              <a:rPr lang="en-IN" smtClean="0"/>
              <a:t>4</a:t>
            </a:fld>
            <a:endParaRPr lang="en-IN"/>
          </a:p>
        </p:txBody>
      </p:sp>
      <p:sp>
        <p:nvSpPr>
          <p:cNvPr id="6" name="Content Placeholder 5">
            <a:extLst>
              <a:ext uri="{FF2B5EF4-FFF2-40B4-BE49-F238E27FC236}">
                <a16:creationId xmlns:a16="http://schemas.microsoft.com/office/drawing/2014/main" id="{6B8A8614-4834-5D77-8EEB-0A9BA2EB6EE3}"/>
              </a:ext>
            </a:extLst>
          </p:cNvPr>
          <p:cNvSpPr>
            <a:spLocks noGrp="1"/>
          </p:cNvSpPr>
          <p:nvPr>
            <p:ph idx="1"/>
          </p:nvPr>
        </p:nvSpPr>
        <p:spPr>
          <a:xfrm>
            <a:off x="838203" y="1214207"/>
            <a:ext cx="10515597" cy="4962756"/>
          </a:xfrm>
        </p:spPr>
        <p:txBody>
          <a:bodyPr>
            <a:normAutofit fontScale="77500" lnSpcReduction="20000"/>
          </a:bodyPr>
          <a:lstStyle/>
          <a:p>
            <a:pPr marL="0" indent="0">
              <a:buNone/>
            </a:pPr>
            <a:r>
              <a:rPr lang="en-IN" sz="2400" b="1" dirty="0"/>
              <a:t> Dorothy E. Denning (1987)</a:t>
            </a:r>
          </a:p>
          <a:p>
            <a:r>
              <a:rPr lang="en-IN" sz="2400" dirty="0"/>
              <a:t>Proposed one of the earliest anomaly-based intrusion detection models. </a:t>
            </a:r>
          </a:p>
          <a:p>
            <a:r>
              <a:rPr lang="en-IN" sz="2400" dirty="0"/>
              <a:t>Established the foundation </a:t>
            </a:r>
            <a:r>
              <a:rPr lang="en-IN" sz="2400"/>
              <a:t>for behavioural cybersecurity </a:t>
            </a:r>
            <a:r>
              <a:rPr lang="en-IN" sz="2400" dirty="0"/>
              <a:t>monitoring. </a:t>
            </a:r>
          </a:p>
          <a:p>
            <a:pPr marL="0" indent="0">
              <a:buNone/>
            </a:pPr>
            <a:r>
              <a:rPr lang="en-IN" sz="2400" b="1" dirty="0"/>
              <a:t>Martin Roesch (1999)</a:t>
            </a:r>
          </a:p>
          <a:p>
            <a:r>
              <a:rPr lang="en-IN" sz="2400" dirty="0"/>
              <a:t>Developed Snort IDS for real-time signature-based traffic analysis. </a:t>
            </a:r>
          </a:p>
          <a:p>
            <a:r>
              <a:rPr lang="en-IN" sz="2400" dirty="0"/>
              <a:t>Effective for known threats but weak against zero-day attacks. </a:t>
            </a:r>
          </a:p>
          <a:p>
            <a:pPr marL="0" indent="0">
              <a:buNone/>
            </a:pPr>
            <a:r>
              <a:rPr lang="en-IN" sz="2400" b="1" dirty="0"/>
              <a:t>Fei Tony Liu et al. (2008)</a:t>
            </a:r>
          </a:p>
          <a:p>
            <a:r>
              <a:rPr lang="en-IN" sz="2400" dirty="0"/>
              <a:t>Introduced Isolation Forest algorithm. </a:t>
            </a:r>
          </a:p>
          <a:p>
            <a:r>
              <a:rPr lang="en-IN" sz="2400" dirty="0"/>
              <a:t>Efficient anomaly detection for high-dimensional unlabelled datasets. </a:t>
            </a:r>
          </a:p>
          <a:p>
            <a:pPr marL="0" indent="0">
              <a:buNone/>
            </a:pPr>
            <a:r>
              <a:rPr lang="en-IN" sz="2400" b="1" dirty="0"/>
              <a:t>Robin Sommer &amp; Vern Paxson (2010)</a:t>
            </a:r>
          </a:p>
          <a:p>
            <a:r>
              <a:rPr lang="en-IN" sz="2400" dirty="0"/>
              <a:t>Discussed challenges of machine learning in network intrusion detection. </a:t>
            </a:r>
          </a:p>
          <a:p>
            <a:r>
              <a:rPr lang="en-IN" sz="2400" dirty="0"/>
              <a:t>Highlighted operational limitations and false positives. </a:t>
            </a:r>
          </a:p>
          <a:p>
            <a:pPr marL="0" indent="0">
              <a:buNone/>
            </a:pPr>
            <a:r>
              <a:rPr lang="en-IN" sz="2400" b="1" dirty="0"/>
              <a:t>Mauro Conti et al. (2021)</a:t>
            </a:r>
          </a:p>
          <a:p>
            <a:r>
              <a:rPr lang="en-IN" sz="2400" dirty="0"/>
              <a:t>Surveyed Human-in-the-Loop cybersecurity systems. </a:t>
            </a:r>
          </a:p>
          <a:p>
            <a:r>
              <a:rPr lang="en-IN" sz="2400" dirty="0"/>
              <a:t>Emphasized analyst-guided validation for operational safety.</a:t>
            </a:r>
          </a:p>
        </p:txBody>
      </p:sp>
    </p:spTree>
    <p:extLst>
      <p:ext uri="{BB962C8B-B14F-4D97-AF65-F5344CB8AC3E}">
        <p14:creationId xmlns:p14="http://schemas.microsoft.com/office/powerpoint/2010/main" val="348167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D38F2-4EE7-A6B5-DF5B-21E6F29E55EA}"/>
              </a:ext>
            </a:extLst>
          </p:cNvPr>
          <p:cNvSpPr>
            <a:spLocks noGrp="1"/>
          </p:cNvSpPr>
          <p:nvPr>
            <p:ph type="title"/>
          </p:nvPr>
        </p:nvSpPr>
        <p:spPr>
          <a:xfrm>
            <a:off x="588822" y="331875"/>
            <a:ext cx="9296400" cy="698502"/>
          </a:xfrm>
        </p:spPr>
        <p:txBody>
          <a:bodyPr/>
          <a:lstStyle/>
          <a:p>
            <a:r>
              <a:rPr lang="en-IN" b="1"/>
              <a:t>Literature Review</a:t>
            </a:r>
            <a:endParaRPr lang="en-IN"/>
          </a:p>
        </p:txBody>
      </p:sp>
      <p:sp>
        <p:nvSpPr>
          <p:cNvPr id="3" name="Content Placeholder 2">
            <a:extLst>
              <a:ext uri="{FF2B5EF4-FFF2-40B4-BE49-F238E27FC236}">
                <a16:creationId xmlns:a16="http://schemas.microsoft.com/office/drawing/2014/main" id="{6AAE7B1C-C904-12C0-461E-25A35EBE2D1E}"/>
              </a:ext>
            </a:extLst>
          </p:cNvPr>
          <p:cNvSpPr>
            <a:spLocks noGrp="1"/>
          </p:cNvSpPr>
          <p:nvPr>
            <p:ph idx="1"/>
          </p:nvPr>
        </p:nvSpPr>
        <p:spPr>
          <a:xfrm>
            <a:off x="588822" y="1180956"/>
            <a:ext cx="10515600" cy="4962756"/>
          </a:xfrm>
        </p:spPr>
        <p:txBody>
          <a:bodyPr vert="horz" lIns="91440" tIns="45720" rIns="91440" bIns="45720" rtlCol="0" anchor="t">
            <a:normAutofit/>
          </a:bodyPr>
          <a:lstStyle/>
          <a:p>
            <a:pPr marL="228600" indent="-228600"/>
            <a:endParaRPr lang="en-IN" sz="1600">
              <a:latin typeface="Times New Roman"/>
              <a:cs typeface="Times New Roman"/>
            </a:endParaRPr>
          </a:p>
        </p:txBody>
      </p:sp>
      <p:sp>
        <p:nvSpPr>
          <p:cNvPr id="4" name="Slide Number Placeholder 3">
            <a:extLst>
              <a:ext uri="{FF2B5EF4-FFF2-40B4-BE49-F238E27FC236}">
                <a16:creationId xmlns:a16="http://schemas.microsoft.com/office/drawing/2014/main" id="{AA403DA1-DB8D-B766-2133-461579504F64}"/>
              </a:ext>
            </a:extLst>
          </p:cNvPr>
          <p:cNvSpPr>
            <a:spLocks noGrp="1"/>
          </p:cNvSpPr>
          <p:nvPr>
            <p:ph type="sldNum" sz="quarter" idx="12"/>
          </p:nvPr>
        </p:nvSpPr>
        <p:spPr>
          <a:xfrm>
            <a:off x="8361219" y="6323101"/>
            <a:ext cx="2743200" cy="365125"/>
          </a:xfrm>
        </p:spPr>
        <p:txBody>
          <a:bodyPr/>
          <a:lstStyle/>
          <a:p>
            <a:fld id="{03F67448-8E76-4088-8C0F-9DC880FFD75C}" type="slidenum">
              <a:rPr lang="en-IN" smtClean="0"/>
              <a:t>5</a:t>
            </a:fld>
            <a:endParaRPr lang="en-IN"/>
          </a:p>
        </p:txBody>
      </p:sp>
      <p:graphicFrame>
        <p:nvGraphicFramePr>
          <p:cNvPr id="5" name="Table 4">
            <a:extLst>
              <a:ext uri="{FF2B5EF4-FFF2-40B4-BE49-F238E27FC236}">
                <a16:creationId xmlns:a16="http://schemas.microsoft.com/office/drawing/2014/main" id="{2112ABD9-4F15-2412-5EA7-D6D3987DCF68}"/>
              </a:ext>
            </a:extLst>
          </p:cNvPr>
          <p:cNvGraphicFramePr>
            <a:graphicFrameLocks noGrp="1"/>
          </p:cNvGraphicFramePr>
          <p:nvPr>
            <p:extLst>
              <p:ext uri="{D42A27DB-BD31-4B8C-83A1-F6EECF244321}">
                <p14:modId xmlns:p14="http://schemas.microsoft.com/office/powerpoint/2010/main" val="1997596002"/>
              </p:ext>
            </p:extLst>
          </p:nvPr>
        </p:nvGraphicFramePr>
        <p:xfrm>
          <a:off x="644236" y="1209766"/>
          <a:ext cx="10460178" cy="4948221"/>
        </p:xfrm>
        <a:graphic>
          <a:graphicData uri="http://schemas.openxmlformats.org/drawingml/2006/table">
            <a:tbl>
              <a:tblPr firstRow="1" bandRow="1">
                <a:tableStyleId>{5C22544A-7EE6-4342-B048-85BDC9FD1C3A}</a:tableStyleId>
              </a:tblPr>
              <a:tblGrid>
                <a:gridCol w="2630631">
                  <a:extLst>
                    <a:ext uri="{9D8B030D-6E8A-4147-A177-3AD203B41FA5}">
                      <a16:colId xmlns:a16="http://schemas.microsoft.com/office/drawing/2014/main" val="2177965339"/>
                    </a:ext>
                  </a:extLst>
                </a:gridCol>
                <a:gridCol w="2609849">
                  <a:extLst>
                    <a:ext uri="{9D8B030D-6E8A-4147-A177-3AD203B41FA5}">
                      <a16:colId xmlns:a16="http://schemas.microsoft.com/office/drawing/2014/main" val="3346577154"/>
                    </a:ext>
                  </a:extLst>
                </a:gridCol>
                <a:gridCol w="2609849">
                  <a:extLst>
                    <a:ext uri="{9D8B030D-6E8A-4147-A177-3AD203B41FA5}">
                      <a16:colId xmlns:a16="http://schemas.microsoft.com/office/drawing/2014/main" val="559958281"/>
                    </a:ext>
                  </a:extLst>
                </a:gridCol>
                <a:gridCol w="2609849">
                  <a:extLst>
                    <a:ext uri="{9D8B030D-6E8A-4147-A177-3AD203B41FA5}">
                      <a16:colId xmlns:a16="http://schemas.microsoft.com/office/drawing/2014/main" val="240036498"/>
                    </a:ext>
                  </a:extLst>
                </a:gridCol>
              </a:tblGrid>
              <a:tr h="915535">
                <a:tc>
                  <a:txBody>
                    <a:bodyPr/>
                    <a:lstStyle/>
                    <a:p>
                      <a:pPr>
                        <a:buNone/>
                      </a:pPr>
                      <a:r>
                        <a:rPr lang="en-US"/>
                        <a:t>Year</a:t>
                      </a:r>
                    </a:p>
                  </a:txBody>
                  <a:tcPr anchor="ctr"/>
                </a:tc>
                <a:tc>
                  <a:txBody>
                    <a:bodyPr/>
                    <a:lstStyle/>
                    <a:p>
                      <a:pPr>
                        <a:buNone/>
                      </a:pPr>
                      <a:r>
                        <a:rPr lang="en-US"/>
                        <a:t>Paper/Authors</a:t>
                      </a:r>
                    </a:p>
                  </a:txBody>
                  <a:tcPr anchor="ctr"/>
                </a:tc>
                <a:tc>
                  <a:txBody>
                    <a:bodyPr/>
                    <a:lstStyle/>
                    <a:p>
                      <a:pPr>
                        <a:buNone/>
                      </a:pPr>
                      <a:r>
                        <a:rPr lang="en-US"/>
                        <a:t>Method used</a:t>
                      </a:r>
                    </a:p>
                  </a:txBody>
                  <a:tcPr anchor="ctr"/>
                </a:tc>
                <a:tc>
                  <a:txBody>
                    <a:bodyPr/>
                    <a:lstStyle/>
                    <a:p>
                      <a:pPr>
                        <a:buNone/>
                      </a:pPr>
                      <a:r>
                        <a:rPr lang="en-US"/>
                        <a:t>Key Findings/Limitations</a:t>
                      </a:r>
                    </a:p>
                  </a:txBody>
                  <a:tcPr anchor="ctr"/>
                </a:tc>
                <a:extLst>
                  <a:ext uri="{0D108BD9-81ED-4DB2-BD59-A6C34878D82A}">
                    <a16:rowId xmlns:a16="http://schemas.microsoft.com/office/drawing/2014/main" val="4147966405"/>
                  </a:ext>
                </a:extLst>
              </a:tr>
              <a:tr h="1349074">
                <a:tc>
                  <a:txBody>
                    <a:bodyPr/>
                    <a:lstStyle/>
                    <a:p>
                      <a:pPr>
                        <a:buNone/>
                      </a:pPr>
                      <a:r>
                        <a:rPr lang="en-US"/>
                        <a:t>1987</a:t>
                      </a:r>
                    </a:p>
                  </a:txBody>
                  <a:tcPr anchor="ctr"/>
                </a:tc>
                <a:tc>
                  <a:txBody>
                    <a:bodyPr/>
                    <a:lstStyle/>
                    <a:p>
                      <a:pPr>
                        <a:buNone/>
                      </a:pPr>
                      <a:r>
                        <a:rPr lang="en-US"/>
                        <a:t>Dorothy E. Denning</a:t>
                      </a:r>
                    </a:p>
                  </a:txBody>
                  <a:tcPr anchor="ctr"/>
                </a:tc>
                <a:tc>
                  <a:txBody>
                    <a:bodyPr/>
                    <a:lstStyle/>
                    <a:p>
                      <a:pPr>
                        <a:buNone/>
                      </a:pPr>
                      <a:r>
                        <a:rPr lang="en-US"/>
                        <a:t>Behavioral Intrusion Detection Model</a:t>
                      </a:r>
                    </a:p>
                  </a:txBody>
                  <a:tcPr anchor="ctr"/>
                </a:tc>
                <a:tc>
                  <a:txBody>
                    <a:bodyPr/>
                    <a:lstStyle/>
                    <a:p>
                      <a:pPr>
                        <a:buNone/>
                      </a:pPr>
                      <a:r>
                        <a:rPr lang="en-US"/>
                        <a:t>Introduced anomaly-based intrusion detection, but limited by high false positives</a:t>
                      </a:r>
                    </a:p>
                  </a:txBody>
                  <a:tcPr anchor="ctr"/>
                </a:tc>
                <a:extLst>
                  <a:ext uri="{0D108BD9-81ED-4DB2-BD59-A6C34878D82A}">
                    <a16:rowId xmlns:a16="http://schemas.microsoft.com/office/drawing/2014/main" val="2080147862"/>
                  </a:ext>
                </a:extLst>
              </a:tr>
              <a:tr h="1334538">
                <a:tc>
                  <a:txBody>
                    <a:bodyPr/>
                    <a:lstStyle/>
                    <a:p>
                      <a:pPr>
                        <a:buNone/>
                      </a:pPr>
                      <a:r>
                        <a:rPr lang="en-US"/>
                        <a:t>1999</a:t>
                      </a:r>
                    </a:p>
                  </a:txBody>
                  <a:tcPr anchor="ctr"/>
                </a:tc>
                <a:tc>
                  <a:txBody>
                    <a:bodyPr/>
                    <a:lstStyle/>
                    <a:p>
                      <a:pPr>
                        <a:buNone/>
                      </a:pPr>
                      <a:r>
                        <a:rPr lang="en-US"/>
                        <a:t>Martin Roesch</a:t>
                      </a:r>
                    </a:p>
                  </a:txBody>
                  <a:tcPr anchor="ctr"/>
                </a:tc>
                <a:tc>
                  <a:txBody>
                    <a:bodyPr/>
                    <a:lstStyle/>
                    <a:p>
                      <a:pPr>
                        <a:buNone/>
                      </a:pPr>
                      <a:r>
                        <a:rPr lang="en-US"/>
                        <a:t>Rule-Based IDS (Snort)</a:t>
                      </a:r>
                    </a:p>
                  </a:txBody>
                  <a:tcPr anchor="ctr"/>
                </a:tc>
                <a:tc>
                  <a:txBody>
                    <a:bodyPr/>
                    <a:lstStyle/>
                    <a:p>
                      <a:pPr>
                        <a:buNone/>
                      </a:pPr>
                      <a:r>
                        <a:rPr lang="en-US"/>
                        <a:t>Efficient real-time traffic monitoring, but ineffective against unknown attacks</a:t>
                      </a:r>
                    </a:p>
                  </a:txBody>
                  <a:tcPr anchor="ctr"/>
                </a:tc>
                <a:extLst>
                  <a:ext uri="{0D108BD9-81ED-4DB2-BD59-A6C34878D82A}">
                    <a16:rowId xmlns:a16="http://schemas.microsoft.com/office/drawing/2014/main" val="366830013"/>
                  </a:ext>
                </a:extLst>
              </a:tr>
              <a:tr h="1349074">
                <a:tc>
                  <a:txBody>
                    <a:bodyPr/>
                    <a:lstStyle/>
                    <a:p>
                      <a:pPr>
                        <a:buNone/>
                      </a:pPr>
                      <a:r>
                        <a:rPr lang="en-US"/>
                        <a:t>2008</a:t>
                      </a:r>
                    </a:p>
                  </a:txBody>
                  <a:tcPr anchor="ctr"/>
                </a:tc>
                <a:tc>
                  <a:txBody>
                    <a:bodyPr/>
                    <a:lstStyle/>
                    <a:p>
                      <a:pPr>
                        <a:buNone/>
                      </a:pPr>
                      <a:r>
                        <a:rPr lang="en-US"/>
                        <a:t>Fei Tony Liu, Kai Ming Ting, and Zhi-Hua Zhou</a:t>
                      </a:r>
                    </a:p>
                  </a:txBody>
                  <a:tcPr anchor="ctr"/>
                </a:tc>
                <a:tc>
                  <a:txBody>
                    <a:bodyPr/>
                    <a:lstStyle/>
                    <a:p>
                      <a:pPr>
                        <a:buNone/>
                      </a:pPr>
                      <a:r>
                        <a:rPr lang="en-US"/>
                        <a:t>Isolation Forest Algorithm</a:t>
                      </a:r>
                    </a:p>
                  </a:txBody>
                  <a:tcPr anchor="ctr"/>
                </a:tc>
                <a:tc>
                  <a:txBody>
                    <a:bodyPr/>
                    <a:lstStyle/>
                    <a:p>
                      <a:pPr>
                        <a:buNone/>
                      </a:pPr>
                      <a:r>
                        <a:rPr lang="en-US" dirty="0"/>
                        <a:t>Fast and efficient anomaly detection, but requires proper threshold tuning</a:t>
                      </a:r>
                    </a:p>
                  </a:txBody>
                  <a:tcPr anchor="ctr"/>
                </a:tc>
                <a:extLst>
                  <a:ext uri="{0D108BD9-81ED-4DB2-BD59-A6C34878D82A}">
                    <a16:rowId xmlns:a16="http://schemas.microsoft.com/office/drawing/2014/main" val="154429524"/>
                  </a:ext>
                </a:extLst>
              </a:tr>
            </a:tbl>
          </a:graphicData>
        </a:graphic>
      </p:graphicFrame>
    </p:spTree>
    <p:extLst>
      <p:ext uri="{BB962C8B-B14F-4D97-AF65-F5344CB8AC3E}">
        <p14:creationId xmlns:p14="http://schemas.microsoft.com/office/powerpoint/2010/main" val="2286439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94E8F-291F-FE2D-EE3B-43E5D1A24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512FCE-D666-E95A-412C-69B123578233}"/>
              </a:ext>
            </a:extLst>
          </p:cNvPr>
          <p:cNvSpPr>
            <a:spLocks noGrp="1"/>
          </p:cNvSpPr>
          <p:nvPr>
            <p:ph type="title"/>
          </p:nvPr>
        </p:nvSpPr>
        <p:spPr>
          <a:xfrm>
            <a:off x="838204" y="272286"/>
            <a:ext cx="9296400" cy="698502"/>
          </a:xfrm>
        </p:spPr>
        <p:txBody>
          <a:bodyPr/>
          <a:lstStyle/>
          <a:p>
            <a:r>
              <a:rPr lang="en-IN" b="1" dirty="0"/>
              <a:t>Problem Statement</a:t>
            </a:r>
          </a:p>
        </p:txBody>
      </p:sp>
      <p:sp>
        <p:nvSpPr>
          <p:cNvPr id="3" name="Content Placeholder 2">
            <a:extLst>
              <a:ext uri="{FF2B5EF4-FFF2-40B4-BE49-F238E27FC236}">
                <a16:creationId xmlns:a16="http://schemas.microsoft.com/office/drawing/2014/main" id="{ECBD8B97-17F0-D0E9-B80B-057426FFEAB6}"/>
              </a:ext>
            </a:extLst>
          </p:cNvPr>
          <p:cNvSpPr>
            <a:spLocks noGrp="1"/>
          </p:cNvSpPr>
          <p:nvPr>
            <p:ph idx="1"/>
          </p:nvPr>
        </p:nvSpPr>
        <p:spPr>
          <a:xfrm>
            <a:off x="838200" y="1300310"/>
            <a:ext cx="10515600" cy="4898726"/>
          </a:xfrm>
        </p:spPr>
        <p:txBody>
          <a:bodyPr vert="horz" lIns="91440" tIns="45720" rIns="91440" bIns="45720" rtlCol="0" anchor="t">
            <a:normAutofit fontScale="92500" lnSpcReduction="20000"/>
          </a:bodyPr>
          <a:lstStyle/>
          <a:p>
            <a:pPr>
              <a:lnSpc>
                <a:spcPct val="110000"/>
              </a:lnSpc>
            </a:pPr>
            <a:r>
              <a:rPr lang="en-US" sz="2400" dirty="0"/>
              <a:t>With the rapid growth of enterprise networks, cloud services, and digital infrastructures, protecting organizational systems from cyber threats has become a major challenge. Traditional rule-based security monitoring methods are effective for detecting known attacks, but they often fail to identify unknown, stealthy, or evolving threats, making enterprise environments vulnerable to advanced cyber attacks and security breaches. There is a need for a system that not only detects suspicious activities but also adapts to changing attack patterns while supporting secure and efficient incident response.</a:t>
            </a:r>
          </a:p>
          <a:p>
            <a:pPr>
              <a:lnSpc>
                <a:spcPct val="110000"/>
              </a:lnSpc>
            </a:pPr>
            <a:r>
              <a:rPr lang="en-US" sz="2400" dirty="0"/>
              <a:t>Existing intrusion detection and security monitoring systems provide threat detection capabilities, but many face limitations such as high false-positive rates, excessive alert generation, limited adaptability, and lack of intelligent response coordination. Therefore, an efficient system is required that integrates anomaly-based detection, centralized SIEM monitoring, SOAR-assisted alert handling, and human-in-the-loop learning, while maintaining operational reliability and ensuring accurate identification of malicious activities.</a:t>
            </a:r>
          </a:p>
        </p:txBody>
      </p:sp>
      <p:sp>
        <p:nvSpPr>
          <p:cNvPr id="4" name="Slide Number Placeholder 3">
            <a:extLst>
              <a:ext uri="{FF2B5EF4-FFF2-40B4-BE49-F238E27FC236}">
                <a16:creationId xmlns:a16="http://schemas.microsoft.com/office/drawing/2014/main" id="{AA17AD14-91C6-126F-B85E-EE2135EADBCD}"/>
              </a:ext>
            </a:extLst>
          </p:cNvPr>
          <p:cNvSpPr>
            <a:spLocks noGrp="1"/>
          </p:cNvSpPr>
          <p:nvPr>
            <p:ph type="sldNum" sz="quarter" idx="12"/>
          </p:nvPr>
        </p:nvSpPr>
        <p:spPr/>
        <p:txBody>
          <a:bodyPr/>
          <a:lstStyle/>
          <a:p>
            <a:fld id="{03F67448-8E76-4088-8C0F-9DC880FFD75C}" type="slidenum">
              <a:rPr lang="en-IN" smtClean="0"/>
              <a:t>6</a:t>
            </a:fld>
            <a:endParaRPr lang="en-IN"/>
          </a:p>
        </p:txBody>
      </p:sp>
    </p:spTree>
    <p:extLst>
      <p:ext uri="{BB962C8B-B14F-4D97-AF65-F5344CB8AC3E}">
        <p14:creationId xmlns:p14="http://schemas.microsoft.com/office/powerpoint/2010/main" val="4143459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E623C-ED47-43EA-6A58-EA0109A98675}"/>
              </a:ext>
            </a:extLst>
          </p:cNvPr>
          <p:cNvSpPr>
            <a:spLocks noGrp="1"/>
          </p:cNvSpPr>
          <p:nvPr>
            <p:ph type="title"/>
          </p:nvPr>
        </p:nvSpPr>
        <p:spPr/>
        <p:txBody>
          <a:bodyPr/>
          <a:lstStyle/>
          <a:p>
            <a:r>
              <a:rPr lang="en-IN" b="1" dirty="0"/>
              <a:t>Motivation</a:t>
            </a:r>
          </a:p>
        </p:txBody>
      </p:sp>
      <p:sp>
        <p:nvSpPr>
          <p:cNvPr id="4" name="Slide Number Placeholder 3">
            <a:extLst>
              <a:ext uri="{FF2B5EF4-FFF2-40B4-BE49-F238E27FC236}">
                <a16:creationId xmlns:a16="http://schemas.microsoft.com/office/drawing/2014/main" id="{6F300B76-B379-A425-9286-1BD0AFD216E5}"/>
              </a:ext>
            </a:extLst>
          </p:cNvPr>
          <p:cNvSpPr>
            <a:spLocks noGrp="1"/>
          </p:cNvSpPr>
          <p:nvPr>
            <p:ph type="sldNum" sz="quarter" idx="12"/>
          </p:nvPr>
        </p:nvSpPr>
        <p:spPr/>
        <p:txBody>
          <a:bodyPr/>
          <a:lstStyle/>
          <a:p>
            <a:fld id="{03F67448-8E76-4088-8C0F-9DC880FFD75C}" type="slidenum">
              <a:rPr lang="en-IN" smtClean="0"/>
              <a:t>7</a:t>
            </a:fld>
            <a:endParaRPr lang="en-IN"/>
          </a:p>
        </p:txBody>
      </p:sp>
      <p:sp>
        <p:nvSpPr>
          <p:cNvPr id="12" name="Rectangle 8">
            <a:extLst>
              <a:ext uri="{FF2B5EF4-FFF2-40B4-BE49-F238E27FC236}">
                <a16:creationId xmlns:a16="http://schemas.microsoft.com/office/drawing/2014/main" id="{9CC55536-F079-F707-0467-0F2D24EF1936}"/>
              </a:ext>
            </a:extLst>
          </p:cNvPr>
          <p:cNvSpPr>
            <a:spLocks noGrp="1" noChangeArrowheads="1"/>
          </p:cNvSpPr>
          <p:nvPr>
            <p:ph idx="1"/>
          </p:nvPr>
        </p:nvSpPr>
        <p:spPr bwMode="auto">
          <a:xfrm>
            <a:off x="838204" y="1262697"/>
            <a:ext cx="7491845" cy="4926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 Growing need for secure cybersecurity monitoring to protect enterprise systems from unauthorized access and cyber threats.</a:t>
            </a:r>
          </a:p>
          <a:p>
            <a:pPr marL="0" indent="0">
              <a:buNone/>
            </a:pPr>
            <a:r>
              <a:rPr lang="en-US" sz="2400" dirty="0"/>
              <a:t>• Interest in exploring anomaly detection, SIEM, and SOAR as advanced technologies for cybersecurity operations.</a:t>
            </a:r>
          </a:p>
          <a:p>
            <a:pPr marL="0" indent="0">
              <a:buNone/>
            </a:pPr>
            <a:r>
              <a:rPr lang="en-US" sz="2400" dirty="0"/>
              <a:t>• To develop a method that identifies hidden malicious activities, not just detects known cyber attacks.</a:t>
            </a:r>
          </a:p>
          <a:p>
            <a:pPr marL="0" indent="0">
              <a:buNone/>
            </a:pPr>
            <a:r>
              <a:rPr lang="en-US" sz="2400" dirty="0"/>
              <a:t>• To ensure accurate threat detection and reliable alert handling after identifying suspicious network behavior.</a:t>
            </a:r>
          </a:p>
          <a:p>
            <a:pPr marL="0" indent="0">
              <a:buNone/>
            </a:pPr>
            <a:r>
              <a:rPr lang="en-US" sz="2400" dirty="0"/>
              <a:t>• Contributes to society by improving cybersecurity, data protection, and secure digital infrastructure in modern systems.</a:t>
            </a:r>
          </a:p>
        </p:txBody>
      </p:sp>
      <p:pic>
        <p:nvPicPr>
          <p:cNvPr id="9" name="Picture 8">
            <a:extLst>
              <a:ext uri="{FF2B5EF4-FFF2-40B4-BE49-F238E27FC236}">
                <a16:creationId xmlns:a16="http://schemas.microsoft.com/office/drawing/2014/main" id="{E38296FA-B825-8536-57B5-FDB5FD95A902}"/>
              </a:ext>
            </a:extLst>
          </p:cNvPr>
          <p:cNvPicPr>
            <a:picLocks noChangeAspect="1"/>
          </p:cNvPicPr>
          <p:nvPr/>
        </p:nvPicPr>
        <p:blipFill>
          <a:blip r:embed="rId2"/>
          <a:stretch>
            <a:fillRect/>
          </a:stretch>
        </p:blipFill>
        <p:spPr>
          <a:xfrm>
            <a:off x="8092768" y="1764583"/>
            <a:ext cx="3971412" cy="3120194"/>
          </a:xfrm>
          <a:prstGeom prst="rect">
            <a:avLst/>
          </a:prstGeom>
        </p:spPr>
      </p:pic>
    </p:spTree>
    <p:extLst>
      <p:ext uri="{BB962C8B-B14F-4D97-AF65-F5344CB8AC3E}">
        <p14:creationId xmlns:p14="http://schemas.microsoft.com/office/powerpoint/2010/main" val="417034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267B1-D3DF-DA0F-244D-DB2CDE07AD3D}"/>
              </a:ext>
            </a:extLst>
          </p:cNvPr>
          <p:cNvSpPr>
            <a:spLocks noGrp="1"/>
          </p:cNvSpPr>
          <p:nvPr>
            <p:ph type="title"/>
          </p:nvPr>
        </p:nvSpPr>
        <p:spPr/>
        <p:txBody>
          <a:bodyPr/>
          <a:lstStyle/>
          <a:p>
            <a:r>
              <a:rPr lang="en-IN" dirty="0"/>
              <a:t>Methodology</a:t>
            </a:r>
          </a:p>
        </p:txBody>
      </p:sp>
      <p:sp>
        <p:nvSpPr>
          <p:cNvPr id="3" name="Content Placeholder 2">
            <a:extLst>
              <a:ext uri="{FF2B5EF4-FFF2-40B4-BE49-F238E27FC236}">
                <a16:creationId xmlns:a16="http://schemas.microsoft.com/office/drawing/2014/main" id="{8ECBC518-09BA-7B10-1B89-AF71704941AC}"/>
              </a:ext>
            </a:extLst>
          </p:cNvPr>
          <p:cNvSpPr>
            <a:spLocks noGrp="1"/>
          </p:cNvSpPr>
          <p:nvPr>
            <p:ph idx="1"/>
          </p:nvPr>
        </p:nvSpPr>
        <p:spPr>
          <a:xfrm>
            <a:off x="909324" y="1123318"/>
            <a:ext cx="10515600" cy="5233034"/>
          </a:xfrm>
        </p:spPr>
        <p:txBody>
          <a:bodyPr>
            <a:normAutofit fontScale="85000" lnSpcReduction="20000"/>
          </a:bodyPr>
          <a:lstStyle/>
          <a:p>
            <a:pPr>
              <a:lnSpc>
                <a:spcPct val="120000"/>
              </a:lnSpc>
            </a:pPr>
            <a:r>
              <a:rPr lang="en-US" sz="2400" dirty="0"/>
              <a:t>The proposed system uses anomaly-based detection and SIEM–SOAR integration to monitor and identify suspicious activities in enterprise environments. Security events are collected from network flow records and authentication logs, then processed using temporal aggregation and behavioral feature extraction. An Isolation Forest model detects deviations from normal behavior. Detected anomalies are indexed into the ELK Stack for monitoring and visualization, while high-severity alerts are forwarded to the Shuffle SOAR platform for notification and analyst-guided response actions.</a:t>
            </a:r>
          </a:p>
          <a:p>
            <a:pPr>
              <a:lnSpc>
                <a:spcPct val="120000"/>
              </a:lnSpc>
            </a:pPr>
            <a:r>
              <a:rPr lang="en-US" sz="2400" b="1" dirty="0"/>
              <a:t>Technologies Used :</a:t>
            </a:r>
          </a:p>
          <a:p>
            <a:r>
              <a:rPr lang="en-US" sz="2400" dirty="0"/>
              <a:t>Python</a:t>
            </a:r>
          </a:p>
          <a:p>
            <a:r>
              <a:rPr lang="en-US" sz="2400" dirty="0"/>
              <a:t>Isolation Forest Algorithm</a:t>
            </a:r>
          </a:p>
          <a:p>
            <a:r>
              <a:rPr lang="en-US" sz="2400" dirty="0"/>
              <a:t>ELK Stack (Elasticsearch, Logstash, Kibana)</a:t>
            </a:r>
          </a:p>
          <a:p>
            <a:r>
              <a:rPr lang="en-US" sz="2400" dirty="0"/>
              <a:t>Shuffle SOAR</a:t>
            </a:r>
          </a:p>
          <a:p>
            <a:r>
              <a:rPr lang="en-US" sz="2400" dirty="0"/>
              <a:t>Docker</a:t>
            </a:r>
          </a:p>
          <a:p>
            <a:r>
              <a:rPr lang="en-US" sz="2400" dirty="0"/>
              <a:t>CICIDS2017 Dataset</a:t>
            </a:r>
          </a:p>
          <a:p>
            <a:r>
              <a:rPr lang="en-US" sz="2400" dirty="0"/>
              <a:t>Machine Learning and Security Monitoring Techniques</a:t>
            </a:r>
          </a:p>
        </p:txBody>
      </p:sp>
      <p:sp>
        <p:nvSpPr>
          <p:cNvPr id="4" name="Slide Number Placeholder 3">
            <a:extLst>
              <a:ext uri="{FF2B5EF4-FFF2-40B4-BE49-F238E27FC236}">
                <a16:creationId xmlns:a16="http://schemas.microsoft.com/office/drawing/2014/main" id="{DDD0C20C-A69D-2FDB-054D-79DD6A92C54E}"/>
              </a:ext>
            </a:extLst>
          </p:cNvPr>
          <p:cNvSpPr>
            <a:spLocks noGrp="1"/>
          </p:cNvSpPr>
          <p:nvPr>
            <p:ph type="sldNum" sz="quarter" idx="12"/>
          </p:nvPr>
        </p:nvSpPr>
        <p:spPr/>
        <p:txBody>
          <a:bodyPr/>
          <a:lstStyle/>
          <a:p>
            <a:fld id="{03F67448-8E76-4088-8C0F-9DC880FFD75C}" type="slidenum">
              <a:rPr lang="en-IN" smtClean="0"/>
              <a:t>8</a:t>
            </a:fld>
            <a:endParaRPr lang="en-IN"/>
          </a:p>
        </p:txBody>
      </p:sp>
    </p:spTree>
    <p:extLst>
      <p:ext uri="{BB962C8B-B14F-4D97-AF65-F5344CB8AC3E}">
        <p14:creationId xmlns:p14="http://schemas.microsoft.com/office/powerpoint/2010/main" val="4150470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1A6D-1178-480B-9CD9-4267F2F85D7C}"/>
              </a:ext>
            </a:extLst>
          </p:cNvPr>
          <p:cNvSpPr>
            <a:spLocks noGrp="1"/>
          </p:cNvSpPr>
          <p:nvPr>
            <p:ph type="title"/>
          </p:nvPr>
        </p:nvSpPr>
        <p:spPr>
          <a:xfrm>
            <a:off x="838204" y="286468"/>
            <a:ext cx="9296400" cy="698502"/>
          </a:xfrm>
        </p:spPr>
        <p:txBody>
          <a:bodyPr>
            <a:normAutofit/>
          </a:bodyPr>
          <a:lstStyle/>
          <a:p>
            <a:r>
              <a:rPr lang="en-IN" sz="4000" b="1" dirty="0"/>
              <a:t>Algorithm / Pseudocode</a:t>
            </a:r>
            <a:endParaRPr lang="en-IN" sz="4000" dirty="0"/>
          </a:p>
        </p:txBody>
      </p:sp>
      <p:sp>
        <p:nvSpPr>
          <p:cNvPr id="4" name="Slide Number Placeholder 3">
            <a:extLst>
              <a:ext uri="{FF2B5EF4-FFF2-40B4-BE49-F238E27FC236}">
                <a16:creationId xmlns:a16="http://schemas.microsoft.com/office/drawing/2014/main" id="{45610D6F-5D0A-9F7C-9BE3-6CD8247D7D5A}"/>
              </a:ext>
            </a:extLst>
          </p:cNvPr>
          <p:cNvSpPr>
            <a:spLocks noGrp="1"/>
          </p:cNvSpPr>
          <p:nvPr>
            <p:ph type="sldNum" sz="quarter" idx="12"/>
          </p:nvPr>
        </p:nvSpPr>
        <p:spPr/>
        <p:txBody>
          <a:bodyPr/>
          <a:lstStyle/>
          <a:p>
            <a:fld id="{03F67448-8E76-4088-8C0F-9DC880FFD75C}" type="slidenum">
              <a:rPr lang="en-IN" smtClean="0"/>
              <a:t>9</a:t>
            </a:fld>
            <a:endParaRPr lang="en-IN"/>
          </a:p>
        </p:txBody>
      </p:sp>
      <p:sp>
        <p:nvSpPr>
          <p:cNvPr id="10" name="TextBox 9">
            <a:extLst>
              <a:ext uri="{FF2B5EF4-FFF2-40B4-BE49-F238E27FC236}">
                <a16:creationId xmlns:a16="http://schemas.microsoft.com/office/drawing/2014/main" id="{17022F9E-E1C3-A017-A2DB-22458F4D1C95}"/>
              </a:ext>
            </a:extLst>
          </p:cNvPr>
          <p:cNvSpPr txBox="1"/>
          <p:nvPr/>
        </p:nvSpPr>
        <p:spPr>
          <a:xfrm>
            <a:off x="909324" y="1371601"/>
            <a:ext cx="10782989" cy="4524315"/>
          </a:xfrm>
          <a:prstGeom prst="rect">
            <a:avLst/>
          </a:prstGeom>
          <a:noFill/>
        </p:spPr>
        <p:txBody>
          <a:bodyPr wrap="square">
            <a:spAutoFit/>
          </a:bodyPr>
          <a:lstStyle/>
          <a:p>
            <a:pPr marL="457200" indent="-457200">
              <a:buFont typeface="+mj-lt"/>
              <a:buAutoNum type="arabicPeriod"/>
            </a:pPr>
            <a:r>
              <a:rPr lang="en-US" sz="2400" dirty="0"/>
              <a:t>Collect network flow logs and authentication events from data sources.</a:t>
            </a:r>
          </a:p>
          <a:p>
            <a:pPr marL="457200" indent="-457200">
              <a:buFont typeface="+mj-lt"/>
              <a:buAutoNum type="arabicPeriod"/>
            </a:pPr>
            <a:r>
              <a:rPr lang="en-US" sz="2400" dirty="0"/>
              <a:t>Preprocess and normalize the collected security logs into a unified schema.</a:t>
            </a:r>
          </a:p>
          <a:p>
            <a:pPr marL="457200" indent="-457200">
              <a:buFont typeface="+mj-lt"/>
              <a:buAutoNum type="arabicPeriod"/>
            </a:pPr>
            <a:r>
              <a:rPr lang="en-US" sz="2400" dirty="0"/>
              <a:t>Apply sliding-window aggregation to extract behavioral features from events.</a:t>
            </a:r>
          </a:p>
          <a:p>
            <a:pPr marL="457200" indent="-457200">
              <a:buFont typeface="+mj-lt"/>
              <a:buAutoNum type="arabicPeriod"/>
            </a:pPr>
            <a:r>
              <a:rPr lang="en-US" sz="2400" dirty="0"/>
              <a:t>Train the Isolation Forest model using baseline normal activity data.</a:t>
            </a:r>
          </a:p>
          <a:p>
            <a:pPr marL="457200" indent="-457200">
              <a:buFont typeface="+mj-lt"/>
              <a:buAutoNum type="arabicPeriod"/>
            </a:pPr>
            <a:r>
              <a:rPr lang="en-US" sz="2400" dirty="0"/>
              <a:t>Input aggregated feature vectors into the trained anomaly detection model.</a:t>
            </a:r>
          </a:p>
          <a:p>
            <a:pPr marL="457200" indent="-457200">
              <a:buFont typeface="+mj-lt"/>
              <a:buAutoNum type="arabicPeriod"/>
            </a:pPr>
            <a:r>
              <a:rPr lang="en-US" sz="2400" dirty="0"/>
              <a:t>Compute anomaly scores and identify suspicious activities based on threshold values.</a:t>
            </a:r>
          </a:p>
          <a:p>
            <a:pPr marL="457200" indent="-457200">
              <a:buFont typeface="+mj-lt"/>
              <a:buAutoNum type="arabicPeriod"/>
            </a:pPr>
            <a:r>
              <a:rPr lang="en-US" sz="2400" dirty="0"/>
              <a:t>Store detected anomalies in Elasticsearch for SIEM monitoring and visualization.</a:t>
            </a:r>
          </a:p>
          <a:p>
            <a:pPr marL="457200" indent="-457200">
              <a:buFont typeface="+mj-lt"/>
              <a:buAutoNum type="arabicPeriod"/>
            </a:pPr>
            <a:r>
              <a:rPr lang="en-US" sz="2400" dirty="0"/>
              <a:t>Visualize alerts and anomaly trends using Kibana dashboards.</a:t>
            </a:r>
          </a:p>
          <a:p>
            <a:pPr marL="457200" indent="-457200">
              <a:buFont typeface="+mj-lt"/>
              <a:buAutoNum type="arabicPeriod"/>
            </a:pPr>
            <a:r>
              <a:rPr lang="en-US" sz="2400" dirty="0"/>
              <a:t>Forward high-severity alerts to Shuffle SOAR through webhook-based workflows.</a:t>
            </a:r>
          </a:p>
          <a:p>
            <a:pPr marL="457200" indent="-457200">
              <a:buFont typeface="+mj-lt"/>
              <a:buAutoNum type="arabicPeriod"/>
            </a:pPr>
            <a:r>
              <a:rPr lang="en-US" sz="2400" dirty="0"/>
              <a:t>Perform notification and case-tracking actions with analyst supervision.</a:t>
            </a:r>
          </a:p>
          <a:p>
            <a:pPr marL="457200" indent="-457200">
              <a:buFont typeface="+mj-lt"/>
              <a:buAutoNum type="arabicPeriod"/>
            </a:pPr>
            <a:r>
              <a:rPr lang="en-US" sz="2400" dirty="0"/>
              <a:t>Collect simulated analyst feedback for offline retraining and model improvement.</a:t>
            </a:r>
          </a:p>
        </p:txBody>
      </p:sp>
    </p:spTree>
    <p:extLst>
      <p:ext uri="{BB962C8B-B14F-4D97-AF65-F5344CB8AC3E}">
        <p14:creationId xmlns:p14="http://schemas.microsoft.com/office/powerpoint/2010/main" val="2347872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0697F-71F3-2739-14CE-FB28C006E519}"/>
              </a:ext>
            </a:extLst>
          </p:cNvPr>
          <p:cNvSpPr>
            <a:spLocks noGrp="1"/>
          </p:cNvSpPr>
          <p:nvPr>
            <p:ph type="title"/>
          </p:nvPr>
        </p:nvSpPr>
        <p:spPr/>
        <p:txBody>
          <a:bodyPr>
            <a:normAutofit/>
          </a:bodyPr>
          <a:lstStyle/>
          <a:p>
            <a:r>
              <a:rPr lang="en-IN" b="1" dirty="0"/>
              <a:t>Architecture / System Diagram</a:t>
            </a:r>
            <a:endParaRPr lang="en-IN" dirty="0"/>
          </a:p>
        </p:txBody>
      </p:sp>
      <p:sp>
        <p:nvSpPr>
          <p:cNvPr id="3" name="Content Placeholder 2">
            <a:extLst>
              <a:ext uri="{FF2B5EF4-FFF2-40B4-BE49-F238E27FC236}">
                <a16:creationId xmlns:a16="http://schemas.microsoft.com/office/drawing/2014/main" id="{B5AA80EA-D2C6-5243-5131-ABB3EA051E7C}"/>
              </a:ext>
            </a:extLst>
          </p:cNvPr>
          <p:cNvSpPr>
            <a:spLocks noGrp="1"/>
          </p:cNvSpPr>
          <p:nvPr>
            <p:ph idx="1"/>
          </p:nvPr>
        </p:nvSpPr>
        <p:spPr>
          <a:xfrm>
            <a:off x="838204" y="1228612"/>
            <a:ext cx="10606549" cy="4962756"/>
          </a:xfrm>
        </p:spPr>
        <p:txBody>
          <a:bodyPr>
            <a:noAutofit/>
          </a:bodyPr>
          <a:lstStyle/>
          <a:p>
            <a:pPr>
              <a:lnSpc>
                <a:spcPct val="100000"/>
              </a:lnSpc>
            </a:pPr>
            <a:r>
              <a:rPr lang="en-US" sz="2000" dirty="0"/>
              <a:t>The proposed system is designed with multiple functional modules that work together to provide intelligent security monitoring, anomaly detection, alert management, and analyst-guided response operations. The User Interface and Monitoring module allows analysts to monitor alerts, visualize suspicious activities, and investigate security events through centralized dashboards. The Data Ingestion module collects CICIDS-style network flow records and synthetically generated authentication logs, while the Preprocessing module normalizes and aggregates security events for analysis. A Human-in-the-Loop Validation module is used during alert handling and retraining to ensure analyst supervision and operational safety.</a:t>
            </a:r>
          </a:p>
          <a:p>
            <a:pPr>
              <a:lnSpc>
                <a:spcPct val="100000"/>
              </a:lnSpc>
            </a:pPr>
            <a:r>
              <a:rPr lang="en-US" sz="2000" dirty="0"/>
              <a:t>The core processing includes the Sliding Window Feature Aggregation module for extracting behavioral features from security telemetry and the Isolation Forest Anomaly Detection module for identifying deviations from normal behavior. The SIEM Integration module stores detected anomalies in Elasticsearch and visualizes alerts using Kibana dashboards. The SOAR Integration module forwards high-severity alerts to Shuffle through webhook-based workflows for notification and case-tracking actions. Finally, the Feedback and Retraining module incorporates simulated analyst feedback for offline model refinement and improved future detection performance.</a:t>
            </a:r>
          </a:p>
        </p:txBody>
      </p:sp>
      <p:sp>
        <p:nvSpPr>
          <p:cNvPr id="4" name="Slide Number Placeholder 3">
            <a:extLst>
              <a:ext uri="{FF2B5EF4-FFF2-40B4-BE49-F238E27FC236}">
                <a16:creationId xmlns:a16="http://schemas.microsoft.com/office/drawing/2014/main" id="{BB42F06E-70D0-F280-EC7E-CA09D1B74ED6}"/>
              </a:ext>
            </a:extLst>
          </p:cNvPr>
          <p:cNvSpPr>
            <a:spLocks noGrp="1"/>
          </p:cNvSpPr>
          <p:nvPr>
            <p:ph type="sldNum" sz="quarter" idx="12"/>
          </p:nvPr>
        </p:nvSpPr>
        <p:spPr/>
        <p:txBody>
          <a:bodyPr/>
          <a:lstStyle/>
          <a:p>
            <a:fld id="{03F67448-8E76-4088-8C0F-9DC880FFD75C}" type="slidenum">
              <a:rPr lang="en-IN" smtClean="0"/>
              <a:t>10</a:t>
            </a:fld>
            <a:endParaRPr lang="en-IN"/>
          </a:p>
        </p:txBody>
      </p:sp>
    </p:spTree>
    <p:extLst>
      <p:ext uri="{BB962C8B-B14F-4D97-AF65-F5344CB8AC3E}">
        <p14:creationId xmlns:p14="http://schemas.microsoft.com/office/powerpoint/2010/main" val="1734266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C7A0-2F79-F719-1C38-7453B27B6264}"/>
              </a:ext>
            </a:extLst>
          </p:cNvPr>
          <p:cNvSpPr>
            <a:spLocks noGrp="1"/>
          </p:cNvSpPr>
          <p:nvPr>
            <p:ph type="title"/>
          </p:nvPr>
        </p:nvSpPr>
        <p:spPr/>
        <p:txBody>
          <a:bodyPr/>
          <a:lstStyle/>
          <a:p>
            <a:r>
              <a:rPr lang="en-IN" b="1" dirty="0"/>
              <a:t>Architecture / System Diagram</a:t>
            </a:r>
            <a:endParaRPr lang="en-IN" dirty="0"/>
          </a:p>
        </p:txBody>
      </p:sp>
      <p:sp>
        <p:nvSpPr>
          <p:cNvPr id="4" name="Slide Number Placeholder 3">
            <a:extLst>
              <a:ext uri="{FF2B5EF4-FFF2-40B4-BE49-F238E27FC236}">
                <a16:creationId xmlns:a16="http://schemas.microsoft.com/office/drawing/2014/main" id="{2075E751-980A-BE8E-5CEE-0F0DAA7672ED}"/>
              </a:ext>
            </a:extLst>
          </p:cNvPr>
          <p:cNvSpPr>
            <a:spLocks noGrp="1"/>
          </p:cNvSpPr>
          <p:nvPr>
            <p:ph type="sldNum" sz="quarter" idx="12"/>
          </p:nvPr>
        </p:nvSpPr>
        <p:spPr/>
        <p:txBody>
          <a:bodyPr/>
          <a:lstStyle/>
          <a:p>
            <a:fld id="{03F67448-8E76-4088-8C0F-9DC880FFD75C}" type="slidenum">
              <a:rPr lang="en-IN" smtClean="0"/>
              <a:t>11</a:t>
            </a:fld>
            <a:endParaRPr lang="en-IN"/>
          </a:p>
        </p:txBody>
      </p:sp>
      <p:pic>
        <p:nvPicPr>
          <p:cNvPr id="8" name="Picture 7">
            <a:extLst>
              <a:ext uri="{FF2B5EF4-FFF2-40B4-BE49-F238E27FC236}">
                <a16:creationId xmlns:a16="http://schemas.microsoft.com/office/drawing/2014/main" id="{1B0C804B-A6EB-9937-297A-2240A897B979}"/>
              </a:ext>
            </a:extLst>
          </p:cNvPr>
          <p:cNvPicPr>
            <a:picLocks noChangeAspect="1"/>
          </p:cNvPicPr>
          <p:nvPr/>
        </p:nvPicPr>
        <p:blipFill>
          <a:blip r:embed="rId2"/>
          <a:stretch>
            <a:fillRect/>
          </a:stretch>
        </p:blipFill>
        <p:spPr>
          <a:xfrm>
            <a:off x="6977173" y="4978153"/>
            <a:ext cx="990686" cy="952583"/>
          </a:xfrm>
          <a:prstGeom prst="rect">
            <a:avLst/>
          </a:prstGeom>
        </p:spPr>
      </p:pic>
      <p:pic>
        <p:nvPicPr>
          <p:cNvPr id="7" name="Content Placeholder 6">
            <a:extLst>
              <a:ext uri="{FF2B5EF4-FFF2-40B4-BE49-F238E27FC236}">
                <a16:creationId xmlns:a16="http://schemas.microsoft.com/office/drawing/2014/main" id="{2B43CBD2-18DC-8B93-451D-5301D6D62C9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4" y="1106200"/>
            <a:ext cx="10740524" cy="5070764"/>
          </a:xfrm>
          <a:prstGeom prst="rect">
            <a:avLst/>
          </a:prstGeom>
        </p:spPr>
      </p:pic>
    </p:spTree>
    <p:extLst>
      <p:ext uri="{BB962C8B-B14F-4D97-AF65-F5344CB8AC3E}">
        <p14:creationId xmlns:p14="http://schemas.microsoft.com/office/powerpoint/2010/main" val="2834554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61D02-3C31-2299-47AF-5C1954DF23DE}"/>
              </a:ext>
            </a:extLst>
          </p:cNvPr>
          <p:cNvSpPr>
            <a:spLocks noGrp="1"/>
          </p:cNvSpPr>
          <p:nvPr>
            <p:ph type="title"/>
          </p:nvPr>
        </p:nvSpPr>
        <p:spPr/>
        <p:txBody>
          <a:bodyPr>
            <a:normAutofit/>
          </a:bodyPr>
          <a:lstStyle/>
          <a:p>
            <a:r>
              <a:rPr lang="en-IN" sz="4000" dirty="0"/>
              <a:t>Results and Analysis(Docker)</a:t>
            </a:r>
          </a:p>
        </p:txBody>
      </p:sp>
      <p:sp>
        <p:nvSpPr>
          <p:cNvPr id="4" name="Slide Number Placeholder 3">
            <a:extLst>
              <a:ext uri="{FF2B5EF4-FFF2-40B4-BE49-F238E27FC236}">
                <a16:creationId xmlns:a16="http://schemas.microsoft.com/office/drawing/2014/main" id="{8014FC06-FC56-2679-3F27-37F30182FDF3}"/>
              </a:ext>
            </a:extLst>
          </p:cNvPr>
          <p:cNvSpPr>
            <a:spLocks noGrp="1"/>
          </p:cNvSpPr>
          <p:nvPr>
            <p:ph type="sldNum" sz="quarter" idx="12"/>
          </p:nvPr>
        </p:nvSpPr>
        <p:spPr/>
        <p:txBody>
          <a:bodyPr/>
          <a:lstStyle/>
          <a:p>
            <a:fld id="{03F67448-8E76-4088-8C0F-9DC880FFD75C}" type="slidenum">
              <a:rPr lang="en-IN" smtClean="0"/>
              <a:t>12</a:t>
            </a:fld>
            <a:endParaRPr lang="en-IN"/>
          </a:p>
        </p:txBody>
      </p:sp>
      <p:pic>
        <p:nvPicPr>
          <p:cNvPr id="7" name="Content Placeholder 6">
            <a:extLst>
              <a:ext uri="{FF2B5EF4-FFF2-40B4-BE49-F238E27FC236}">
                <a16:creationId xmlns:a16="http://schemas.microsoft.com/office/drawing/2014/main" id="{0BE61CF3-5156-D7EA-5FC1-505BF8117D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6523" y="2683044"/>
            <a:ext cx="10515600" cy="2379275"/>
          </a:xfrm>
          <a:prstGeom prst="rect">
            <a:avLst/>
          </a:prstGeom>
        </p:spPr>
      </p:pic>
      <p:sp>
        <p:nvSpPr>
          <p:cNvPr id="12" name="TextBox 11">
            <a:extLst>
              <a:ext uri="{FF2B5EF4-FFF2-40B4-BE49-F238E27FC236}">
                <a16:creationId xmlns:a16="http://schemas.microsoft.com/office/drawing/2014/main" id="{698C29A1-5ACF-6213-A7CC-213E0DA23AC3}"/>
              </a:ext>
            </a:extLst>
          </p:cNvPr>
          <p:cNvSpPr txBox="1"/>
          <p:nvPr/>
        </p:nvSpPr>
        <p:spPr>
          <a:xfrm>
            <a:off x="1406012" y="1389696"/>
            <a:ext cx="8475407" cy="1200329"/>
          </a:xfrm>
          <a:prstGeom prst="rect">
            <a:avLst/>
          </a:prstGeom>
          <a:noFill/>
        </p:spPr>
        <p:txBody>
          <a:bodyPr wrap="square">
            <a:spAutoFit/>
          </a:bodyPr>
          <a:lstStyle/>
          <a:p>
            <a:r>
              <a:rPr lang="en-US" sz="2400" dirty="0"/>
              <a:t>Docker is used to deploy and manage ELK Stack and Shuffle SOAR services in isolated containers, ensuring scalable, portable, and efficient security monitoring operations.</a:t>
            </a:r>
          </a:p>
        </p:txBody>
      </p:sp>
    </p:spTree>
    <p:extLst>
      <p:ext uri="{BB962C8B-B14F-4D97-AF65-F5344CB8AC3E}">
        <p14:creationId xmlns:p14="http://schemas.microsoft.com/office/powerpoint/2010/main" val="4021392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A1F6-52CC-6749-A449-661A393B3E81}"/>
              </a:ext>
            </a:extLst>
          </p:cNvPr>
          <p:cNvSpPr>
            <a:spLocks noGrp="1"/>
          </p:cNvSpPr>
          <p:nvPr>
            <p:ph type="title"/>
          </p:nvPr>
        </p:nvSpPr>
        <p:spPr/>
        <p:txBody>
          <a:bodyPr>
            <a:normAutofit/>
          </a:bodyPr>
          <a:lstStyle/>
          <a:p>
            <a:r>
              <a:rPr lang="en-IN" sz="4000" dirty="0"/>
              <a:t>Results and Analysis(Elasticsearch)</a:t>
            </a:r>
          </a:p>
        </p:txBody>
      </p:sp>
      <p:sp>
        <p:nvSpPr>
          <p:cNvPr id="4" name="Slide Number Placeholder 3">
            <a:extLst>
              <a:ext uri="{FF2B5EF4-FFF2-40B4-BE49-F238E27FC236}">
                <a16:creationId xmlns:a16="http://schemas.microsoft.com/office/drawing/2014/main" id="{38300F75-7C62-59E2-F33E-AF103A7EC013}"/>
              </a:ext>
            </a:extLst>
          </p:cNvPr>
          <p:cNvSpPr>
            <a:spLocks noGrp="1"/>
          </p:cNvSpPr>
          <p:nvPr>
            <p:ph type="sldNum" sz="quarter" idx="12"/>
          </p:nvPr>
        </p:nvSpPr>
        <p:spPr/>
        <p:txBody>
          <a:bodyPr/>
          <a:lstStyle/>
          <a:p>
            <a:fld id="{03F67448-8E76-4088-8C0F-9DC880FFD75C}" type="slidenum">
              <a:rPr lang="en-IN" smtClean="0"/>
              <a:t>13</a:t>
            </a:fld>
            <a:endParaRPr lang="en-IN"/>
          </a:p>
        </p:txBody>
      </p:sp>
      <p:pic>
        <p:nvPicPr>
          <p:cNvPr id="5" name="Picture 4">
            <a:extLst>
              <a:ext uri="{FF2B5EF4-FFF2-40B4-BE49-F238E27FC236}">
                <a16:creationId xmlns:a16="http://schemas.microsoft.com/office/drawing/2014/main" id="{D0508FCD-A343-0715-570A-E7ACA8EE22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7248" y="2182762"/>
            <a:ext cx="7455283" cy="4021393"/>
          </a:xfrm>
          <a:prstGeom prst="rect">
            <a:avLst/>
          </a:prstGeom>
        </p:spPr>
      </p:pic>
      <p:sp>
        <p:nvSpPr>
          <p:cNvPr id="13" name="TextBox 12">
            <a:extLst>
              <a:ext uri="{FF2B5EF4-FFF2-40B4-BE49-F238E27FC236}">
                <a16:creationId xmlns:a16="http://schemas.microsoft.com/office/drawing/2014/main" id="{BD4EB534-A9CA-DDC4-E692-B23825505A10}"/>
              </a:ext>
            </a:extLst>
          </p:cNvPr>
          <p:cNvSpPr txBox="1"/>
          <p:nvPr/>
        </p:nvSpPr>
        <p:spPr>
          <a:xfrm>
            <a:off x="707924" y="1259432"/>
            <a:ext cx="10874476" cy="830997"/>
          </a:xfrm>
          <a:prstGeom prst="rect">
            <a:avLst/>
          </a:prstGeom>
          <a:noFill/>
        </p:spPr>
        <p:txBody>
          <a:bodyPr wrap="square">
            <a:spAutoFit/>
          </a:bodyPr>
          <a:lstStyle/>
          <a:p>
            <a:pPr>
              <a:buNone/>
            </a:pPr>
            <a:r>
              <a:rPr lang="en-US" sz="2400" dirty="0"/>
              <a:t>Elasticsearch stores detected anomaly alerts as structured records, enabling fast indexing, centralized security monitoring, and efficient analysis of suspicious activities.</a:t>
            </a:r>
          </a:p>
        </p:txBody>
      </p:sp>
    </p:spTree>
    <p:extLst>
      <p:ext uri="{BB962C8B-B14F-4D97-AF65-F5344CB8AC3E}">
        <p14:creationId xmlns:p14="http://schemas.microsoft.com/office/powerpoint/2010/main" val="1421053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CD5BC-1979-4A49-7D5C-38487A31BE43}"/>
              </a:ext>
            </a:extLst>
          </p:cNvPr>
          <p:cNvSpPr>
            <a:spLocks noGrp="1"/>
          </p:cNvSpPr>
          <p:nvPr>
            <p:ph type="title"/>
          </p:nvPr>
        </p:nvSpPr>
        <p:spPr>
          <a:xfrm>
            <a:off x="838204" y="136523"/>
            <a:ext cx="9296400" cy="927105"/>
          </a:xfrm>
        </p:spPr>
        <p:txBody>
          <a:bodyPr>
            <a:normAutofit fontScale="90000"/>
          </a:bodyPr>
          <a:lstStyle/>
          <a:p>
            <a:r>
              <a:rPr lang="en-IN" sz="4000" dirty="0"/>
              <a:t>Results and Analysis  (Windows Aggregation Python File )</a:t>
            </a:r>
          </a:p>
        </p:txBody>
      </p:sp>
      <p:sp>
        <p:nvSpPr>
          <p:cNvPr id="4" name="Slide Number Placeholder 3">
            <a:extLst>
              <a:ext uri="{FF2B5EF4-FFF2-40B4-BE49-F238E27FC236}">
                <a16:creationId xmlns:a16="http://schemas.microsoft.com/office/drawing/2014/main" id="{700876A4-6F90-02D5-FE5F-B9CC2E43E4C7}"/>
              </a:ext>
            </a:extLst>
          </p:cNvPr>
          <p:cNvSpPr>
            <a:spLocks noGrp="1"/>
          </p:cNvSpPr>
          <p:nvPr>
            <p:ph type="sldNum" sz="quarter" idx="12"/>
          </p:nvPr>
        </p:nvSpPr>
        <p:spPr/>
        <p:txBody>
          <a:bodyPr/>
          <a:lstStyle/>
          <a:p>
            <a:fld id="{03F67448-8E76-4088-8C0F-9DC880FFD75C}" type="slidenum">
              <a:rPr lang="en-IN" smtClean="0"/>
              <a:t>14</a:t>
            </a:fld>
            <a:endParaRPr lang="en-IN"/>
          </a:p>
        </p:txBody>
      </p:sp>
      <p:pic>
        <p:nvPicPr>
          <p:cNvPr id="9" name="Picture 8">
            <a:extLst>
              <a:ext uri="{FF2B5EF4-FFF2-40B4-BE49-F238E27FC236}">
                <a16:creationId xmlns:a16="http://schemas.microsoft.com/office/drawing/2014/main" id="{B9E701B1-DFB9-64E6-C914-3C21D3BF41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5652" y="2768566"/>
            <a:ext cx="5740695" cy="1320868"/>
          </a:xfrm>
          <a:prstGeom prst="rect">
            <a:avLst/>
          </a:prstGeom>
        </p:spPr>
      </p:pic>
      <p:pic>
        <p:nvPicPr>
          <p:cNvPr id="12" name="Picture 11">
            <a:extLst>
              <a:ext uri="{FF2B5EF4-FFF2-40B4-BE49-F238E27FC236}">
                <a16:creationId xmlns:a16="http://schemas.microsoft.com/office/drawing/2014/main" id="{D411DC31-81B8-D593-894F-15C816560C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2762" y="2549187"/>
            <a:ext cx="9798554" cy="3416476"/>
          </a:xfrm>
          <a:prstGeom prst="rect">
            <a:avLst/>
          </a:prstGeom>
        </p:spPr>
      </p:pic>
      <p:sp>
        <p:nvSpPr>
          <p:cNvPr id="17" name="TextBox 16">
            <a:extLst>
              <a:ext uri="{FF2B5EF4-FFF2-40B4-BE49-F238E27FC236}">
                <a16:creationId xmlns:a16="http://schemas.microsoft.com/office/drawing/2014/main" id="{D78C77FC-2E05-832F-E598-F3EFCE3985C7}"/>
              </a:ext>
            </a:extLst>
          </p:cNvPr>
          <p:cNvSpPr txBox="1"/>
          <p:nvPr/>
        </p:nvSpPr>
        <p:spPr>
          <a:xfrm>
            <a:off x="992762" y="1283007"/>
            <a:ext cx="9202993" cy="1200329"/>
          </a:xfrm>
          <a:prstGeom prst="rect">
            <a:avLst/>
          </a:prstGeom>
          <a:noFill/>
        </p:spPr>
        <p:txBody>
          <a:bodyPr wrap="square">
            <a:spAutoFit/>
          </a:bodyPr>
          <a:lstStyle/>
          <a:p>
            <a:r>
              <a:rPr lang="en-US" sz="2400" dirty="0"/>
              <a:t>The  module performs sliding-window feature aggregation by grouping network and authentication events over fixed time intervals to generate behavioral features for anomaly detection.</a:t>
            </a:r>
          </a:p>
        </p:txBody>
      </p:sp>
    </p:spTree>
    <p:extLst>
      <p:ext uri="{BB962C8B-B14F-4D97-AF65-F5344CB8AC3E}">
        <p14:creationId xmlns:p14="http://schemas.microsoft.com/office/powerpoint/2010/main" val="1674995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EBA6E-8D2E-354B-9FE0-169CC4FA4E7D}"/>
              </a:ext>
            </a:extLst>
          </p:cNvPr>
          <p:cNvSpPr>
            <a:spLocks noGrp="1"/>
          </p:cNvSpPr>
          <p:nvPr>
            <p:ph type="title"/>
          </p:nvPr>
        </p:nvSpPr>
        <p:spPr/>
        <p:txBody>
          <a:bodyPr/>
          <a:lstStyle/>
          <a:p>
            <a:r>
              <a:rPr lang="en-IN" sz="4000" dirty="0"/>
              <a:t>Results and Analysis</a:t>
            </a:r>
            <a:endParaRPr lang="en-US" dirty="0"/>
          </a:p>
        </p:txBody>
      </p:sp>
      <p:sp>
        <p:nvSpPr>
          <p:cNvPr id="4" name="Slide Number Placeholder 3">
            <a:extLst>
              <a:ext uri="{FF2B5EF4-FFF2-40B4-BE49-F238E27FC236}">
                <a16:creationId xmlns:a16="http://schemas.microsoft.com/office/drawing/2014/main" id="{CFBFB43D-401A-2543-FA52-357A26CDD40F}"/>
              </a:ext>
            </a:extLst>
          </p:cNvPr>
          <p:cNvSpPr>
            <a:spLocks noGrp="1"/>
          </p:cNvSpPr>
          <p:nvPr>
            <p:ph type="sldNum" sz="quarter" idx="12"/>
          </p:nvPr>
        </p:nvSpPr>
        <p:spPr/>
        <p:txBody>
          <a:bodyPr/>
          <a:lstStyle/>
          <a:p>
            <a:fld id="{03F67448-8E76-4088-8C0F-9DC880FFD75C}" type="slidenum">
              <a:rPr lang="en-IN" smtClean="0"/>
              <a:t>15</a:t>
            </a:fld>
            <a:endParaRPr lang="en-IN"/>
          </a:p>
        </p:txBody>
      </p:sp>
      <p:sp>
        <p:nvSpPr>
          <p:cNvPr id="6" name="Content Placeholder 5">
            <a:extLst>
              <a:ext uri="{FF2B5EF4-FFF2-40B4-BE49-F238E27FC236}">
                <a16:creationId xmlns:a16="http://schemas.microsoft.com/office/drawing/2014/main" id="{1F8455E0-9F1F-528E-EC3A-3CC7F013243E}"/>
              </a:ext>
            </a:extLst>
          </p:cNvPr>
          <p:cNvSpPr>
            <a:spLocks noGrp="1"/>
          </p:cNvSpPr>
          <p:nvPr>
            <p:ph idx="1"/>
          </p:nvPr>
        </p:nvSpPr>
        <p:spPr>
          <a:xfrm>
            <a:off x="838204" y="1311104"/>
            <a:ext cx="10530348" cy="2695814"/>
          </a:xfrm>
        </p:spPr>
        <p:txBody>
          <a:bodyPr>
            <a:normAutofit fontScale="85000" lnSpcReduction="20000"/>
          </a:bodyPr>
          <a:lstStyle/>
          <a:p>
            <a:pPr>
              <a:lnSpc>
                <a:spcPct val="110000"/>
              </a:lnSpc>
            </a:pPr>
            <a:r>
              <a:rPr lang="en-US" sz="2400" dirty="0"/>
              <a:t>The proposed system securely performs anomaly detection, alert management, and suspicious activity monitoring in enterprise environments using Isolation Forest–based machine learning and SIEM–SOAR integration. Security events are analyzed to identify abnormal behavior and high-severity threats can be accurately monitored and investigated when needed. The alert handling mechanism identifies suspicious activities from network and authentication logs. SIEM visualization through Kibana shows centralized monitoring with minimal operational overhead, while performance metrics such as Precision, Recall, F1-Score, ROC-AUC, and False Positive Rate confirm that the system maintains reliable detection performance and operational stability after anomaly analysis.</a:t>
            </a:r>
          </a:p>
        </p:txBody>
      </p:sp>
      <p:pic>
        <p:nvPicPr>
          <p:cNvPr id="11" name="Picture 10">
            <a:extLst>
              <a:ext uri="{FF2B5EF4-FFF2-40B4-BE49-F238E27FC236}">
                <a16:creationId xmlns:a16="http://schemas.microsoft.com/office/drawing/2014/main" id="{9111AE2B-0620-D215-78AE-1E49A43D6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285" y="4006918"/>
            <a:ext cx="10408185" cy="2101958"/>
          </a:xfrm>
          <a:prstGeom prst="rect">
            <a:avLst/>
          </a:prstGeom>
        </p:spPr>
      </p:pic>
    </p:spTree>
    <p:extLst>
      <p:ext uri="{BB962C8B-B14F-4D97-AF65-F5344CB8AC3E}">
        <p14:creationId xmlns:p14="http://schemas.microsoft.com/office/powerpoint/2010/main" val="2463274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AEFC3-E899-AECC-1B35-F48657CA18EB}"/>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3BA5E50D-41F2-6407-BA80-EFD205D0FD82}"/>
              </a:ext>
            </a:extLst>
          </p:cNvPr>
          <p:cNvSpPr>
            <a:spLocks noGrp="1"/>
          </p:cNvSpPr>
          <p:nvPr>
            <p:ph idx="1"/>
          </p:nvPr>
        </p:nvSpPr>
        <p:spPr>
          <a:xfrm>
            <a:off x="838199" y="1393596"/>
            <a:ext cx="10515600" cy="4962756"/>
          </a:xfrm>
        </p:spPr>
        <p:txBody>
          <a:bodyPr vert="horz" lIns="91440" tIns="45720" rIns="91440" bIns="45720" rtlCol="0" anchor="t">
            <a:normAutofit fontScale="92500"/>
          </a:bodyPr>
          <a:lstStyle/>
          <a:p>
            <a:r>
              <a:rPr lang="en-US" sz="2400" dirty="0"/>
              <a:t>Successfully developed a Semi-Autonomous SIEM–SOAR Framework for anomaly-based security monitoring and threat detection in enterprise environments.</a:t>
            </a:r>
          </a:p>
          <a:p>
            <a:r>
              <a:rPr lang="en-US" sz="2400" dirty="0"/>
              <a:t>Achieved project objectives by implementing anomaly detection using Isolation Forest, SIEM-based monitoring with the ELK Stack, SOAR-assisted alert handling, and human-in-the-loop validation while maintaining operational safety.</a:t>
            </a:r>
          </a:p>
          <a:p>
            <a:r>
              <a:rPr lang="en-US" sz="2400" dirty="0"/>
              <a:t>The system provides improved threat detection, centralized security monitoring, and reliable alert investigation, making it suitable for modern Security Operations Center (SOC) environments.</a:t>
            </a:r>
          </a:p>
          <a:p>
            <a:r>
              <a:rPr lang="en-US" sz="2400" dirty="0"/>
              <a:t>A key contribution of this work is the integration of anomaly detection, SIEM monitoring, SOAR workflows, and analyst-guided feedback in a single operational framework for enhanced cybersecurity monitoring.</a:t>
            </a:r>
          </a:p>
          <a:p>
            <a:r>
              <a:rPr lang="en-US" sz="2400" dirty="0"/>
              <a:t>Future enhancements can include deep learning–based threat detection, real-time threat intelligence integration, automated response orchestration, cloud security monitoring, and deployment in live enterprise environments for wider operational usability.</a:t>
            </a:r>
          </a:p>
        </p:txBody>
      </p:sp>
      <p:sp>
        <p:nvSpPr>
          <p:cNvPr id="4" name="Slide Number Placeholder 3">
            <a:extLst>
              <a:ext uri="{FF2B5EF4-FFF2-40B4-BE49-F238E27FC236}">
                <a16:creationId xmlns:a16="http://schemas.microsoft.com/office/drawing/2014/main" id="{287DB677-AEF1-8623-A9A8-B5C51AE73FFE}"/>
              </a:ext>
            </a:extLst>
          </p:cNvPr>
          <p:cNvSpPr>
            <a:spLocks noGrp="1"/>
          </p:cNvSpPr>
          <p:nvPr>
            <p:ph type="sldNum" sz="quarter" idx="12"/>
          </p:nvPr>
        </p:nvSpPr>
        <p:spPr/>
        <p:txBody>
          <a:bodyPr/>
          <a:lstStyle/>
          <a:p>
            <a:fld id="{03F67448-8E76-4088-8C0F-9DC880FFD75C}" type="slidenum">
              <a:rPr lang="en-IN" smtClean="0"/>
              <a:t>16</a:t>
            </a:fld>
            <a:endParaRPr lang="en-IN"/>
          </a:p>
        </p:txBody>
      </p:sp>
    </p:spTree>
    <p:extLst>
      <p:ext uri="{BB962C8B-B14F-4D97-AF65-F5344CB8AC3E}">
        <p14:creationId xmlns:p14="http://schemas.microsoft.com/office/powerpoint/2010/main" val="1097091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963C-3A65-C3E4-21A7-3231D4D5F27D}"/>
              </a:ext>
            </a:extLst>
          </p:cNvPr>
          <p:cNvSpPr>
            <a:spLocks noGrp="1"/>
          </p:cNvSpPr>
          <p:nvPr>
            <p:ph type="title"/>
          </p:nvPr>
        </p:nvSpPr>
        <p:spPr/>
        <p:txBody>
          <a:bodyPr/>
          <a:lstStyle/>
          <a:p>
            <a:r>
              <a:rPr lang="en-IN" dirty="0"/>
              <a:t>Publication</a:t>
            </a:r>
          </a:p>
        </p:txBody>
      </p:sp>
      <p:sp>
        <p:nvSpPr>
          <p:cNvPr id="3" name="Content Placeholder 2">
            <a:extLst>
              <a:ext uri="{FF2B5EF4-FFF2-40B4-BE49-F238E27FC236}">
                <a16:creationId xmlns:a16="http://schemas.microsoft.com/office/drawing/2014/main" id="{CAD03A74-F0E9-AD10-1484-60F00E396628}"/>
              </a:ext>
            </a:extLst>
          </p:cNvPr>
          <p:cNvSpPr>
            <a:spLocks noGrp="1"/>
          </p:cNvSpPr>
          <p:nvPr>
            <p:ph idx="1"/>
          </p:nvPr>
        </p:nvSpPr>
        <p:spPr/>
        <p:txBody>
          <a:bodyPr/>
          <a:lstStyle/>
          <a:p>
            <a:r>
              <a:rPr lang="en-US" b="1" dirty="0"/>
              <a:t>IEEE Conference </a:t>
            </a:r>
          </a:p>
          <a:p>
            <a:r>
              <a:rPr lang="en-US" dirty="0"/>
              <a:t>A Semi-Autonomous SIEM–SOAR Framework for Anomaly-Based Security Operations with Human-in-the-Loop Learning</a:t>
            </a:r>
          </a:p>
          <a:p>
            <a:pPr marL="0" indent="0">
              <a:buNone/>
            </a:pPr>
            <a:r>
              <a:rPr lang="en-US" b="1" dirty="0"/>
              <a:t>  Status:</a:t>
            </a:r>
          </a:p>
          <a:p>
            <a:pPr>
              <a:buFont typeface="Courier New" panose="02070309020205020404" pitchFamily="49" charset="0"/>
              <a:buChar char="o"/>
            </a:pPr>
            <a:r>
              <a:rPr lang="en-US" dirty="0"/>
              <a:t>      Presented / Communicated</a:t>
            </a:r>
          </a:p>
        </p:txBody>
      </p:sp>
      <p:sp>
        <p:nvSpPr>
          <p:cNvPr id="4" name="Slide Number Placeholder 3">
            <a:extLst>
              <a:ext uri="{FF2B5EF4-FFF2-40B4-BE49-F238E27FC236}">
                <a16:creationId xmlns:a16="http://schemas.microsoft.com/office/drawing/2014/main" id="{CCE76F5B-0DF4-2C12-528B-211FC407DA6A}"/>
              </a:ext>
            </a:extLst>
          </p:cNvPr>
          <p:cNvSpPr>
            <a:spLocks noGrp="1"/>
          </p:cNvSpPr>
          <p:nvPr>
            <p:ph type="sldNum" sz="quarter" idx="12"/>
          </p:nvPr>
        </p:nvSpPr>
        <p:spPr/>
        <p:txBody>
          <a:bodyPr/>
          <a:lstStyle/>
          <a:p>
            <a:fld id="{03F67448-8E76-4088-8C0F-9DC880FFD75C}" type="slidenum">
              <a:rPr lang="en-IN" smtClean="0"/>
              <a:t>17</a:t>
            </a:fld>
            <a:endParaRPr lang="en-IN"/>
          </a:p>
        </p:txBody>
      </p:sp>
    </p:spTree>
    <p:extLst>
      <p:ext uri="{BB962C8B-B14F-4D97-AF65-F5344CB8AC3E}">
        <p14:creationId xmlns:p14="http://schemas.microsoft.com/office/powerpoint/2010/main" val="2914513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AB05-87B8-7C17-98CB-24813A98FAA8}"/>
              </a:ext>
            </a:extLst>
          </p:cNvPr>
          <p:cNvSpPr>
            <a:spLocks noGrp="1"/>
          </p:cNvSpPr>
          <p:nvPr>
            <p:ph type="title"/>
          </p:nvPr>
        </p:nvSpPr>
        <p:spPr/>
        <p:txBody>
          <a:bodyPr/>
          <a:lstStyle/>
          <a:p>
            <a:r>
              <a:rPr lang="en-IN" b="1" dirty="0"/>
              <a:t>References</a:t>
            </a:r>
            <a:endParaRPr lang="en-IN" dirty="0"/>
          </a:p>
        </p:txBody>
      </p:sp>
      <p:sp>
        <p:nvSpPr>
          <p:cNvPr id="4" name="Slide Number Placeholder 3">
            <a:extLst>
              <a:ext uri="{FF2B5EF4-FFF2-40B4-BE49-F238E27FC236}">
                <a16:creationId xmlns:a16="http://schemas.microsoft.com/office/drawing/2014/main" id="{E8E460C6-0A3B-D657-DF3F-0A5837CB6FD2}"/>
              </a:ext>
            </a:extLst>
          </p:cNvPr>
          <p:cNvSpPr>
            <a:spLocks noGrp="1"/>
          </p:cNvSpPr>
          <p:nvPr>
            <p:ph type="sldNum" sz="quarter" idx="12"/>
          </p:nvPr>
        </p:nvSpPr>
        <p:spPr/>
        <p:txBody>
          <a:bodyPr/>
          <a:lstStyle/>
          <a:p>
            <a:fld id="{03F67448-8E76-4088-8C0F-9DC880FFD75C}" type="slidenum">
              <a:rPr lang="en-IN" smtClean="0"/>
              <a:t>18</a:t>
            </a:fld>
            <a:endParaRPr lang="en-IN"/>
          </a:p>
        </p:txBody>
      </p:sp>
      <p:sp>
        <p:nvSpPr>
          <p:cNvPr id="3" name="Content Placeholder 2">
            <a:extLst>
              <a:ext uri="{FF2B5EF4-FFF2-40B4-BE49-F238E27FC236}">
                <a16:creationId xmlns:a16="http://schemas.microsoft.com/office/drawing/2014/main" id="{DA1DED4A-44C0-E49A-5B18-6EBB45EC5356}"/>
              </a:ext>
            </a:extLst>
          </p:cNvPr>
          <p:cNvSpPr txBox="1">
            <a:spLocks/>
          </p:cNvSpPr>
          <p:nvPr/>
        </p:nvSpPr>
        <p:spPr>
          <a:xfrm>
            <a:off x="838204" y="1214207"/>
            <a:ext cx="10515600" cy="4962756"/>
          </a:xfrm>
          <a:prstGeom prst="rect">
            <a:avLst/>
          </a:prstGeom>
        </p:spPr>
        <p:txBody>
          <a:bodyPr vert="horz" lIns="91440" tIns="45720" rIns="91440" bIns="45720" rtlCol="0">
            <a:normAutofit fontScale="92500" lnSpcReduction="20000"/>
          </a:bodyPr>
          <a:lst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Times New Roman" panose="02020603050405020304" pitchFamily="18" charset="0"/>
                <a:ea typeface="+mn-ea"/>
                <a:cs typeface="Times New Roman" panose="02020603050405020304" pitchFamily="18" charset="0"/>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Times New Roman" panose="02020603050405020304" pitchFamily="18" charset="0"/>
                <a:ea typeface="+mn-ea"/>
                <a:cs typeface="Times New Roman" panose="02020603050405020304" pitchFamily="18" charset="0"/>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indent="0">
              <a:buNone/>
            </a:pPr>
            <a:r>
              <a:rPr lang="en-IN" dirty="0"/>
              <a:t>[1] F. T. Liu, K. M. Ting, and Z.-H. Zhou, “Isolation Forest,” in Proc. IEEE International Conference on Data Mining (ICDM), 2008, pp. 413–422.</a:t>
            </a:r>
          </a:p>
          <a:p>
            <a:pPr marL="0" indent="0">
              <a:buNone/>
            </a:pPr>
            <a:r>
              <a:rPr lang="en-IN" dirty="0"/>
              <a:t> [2] R. Sommer and V. Paxson, “Outside the Closed World: On Using Machine Learning for Network Intrusion Detection,” in Proc. IEEE Symposium on Security and Privacy, 2010, pp. 305–316. </a:t>
            </a:r>
          </a:p>
          <a:p>
            <a:pPr marL="0" indent="0">
              <a:buNone/>
            </a:pPr>
            <a:r>
              <a:rPr lang="en-IN" dirty="0"/>
              <a:t>[3] Elastic, “Elastic Stack Overview,” 2023. [Online]. Available: https://www.elastic.co/elastic-stack </a:t>
            </a:r>
          </a:p>
          <a:p>
            <a:pPr marL="0" indent="0">
              <a:buNone/>
            </a:pPr>
            <a:r>
              <a:rPr lang="en-IN" dirty="0"/>
              <a:t>[4] MITRE Corporation, “MITRE ATT&amp;CK Framework,” 2023. [Online]. Available: https://attack.mitre.org/ </a:t>
            </a:r>
          </a:p>
          <a:p>
            <a:pPr marL="0" indent="0">
              <a:buNone/>
            </a:pPr>
            <a:r>
              <a:rPr lang="en-IN" dirty="0"/>
              <a:t>[5] J. Brown and S. </a:t>
            </a:r>
            <a:r>
              <a:rPr lang="en-IN" dirty="0" err="1"/>
              <a:t>Gommers</a:t>
            </a:r>
            <a:r>
              <a:rPr lang="en-IN" dirty="0"/>
              <a:t>, “Security Orchestration, Automation, and Response (SOAR): Current Trends,” IEEE Security &amp; Privacy, vol. 18, no. 5, pp. 72–77, 2020. </a:t>
            </a:r>
          </a:p>
          <a:p>
            <a:pPr marL="0" indent="0">
              <a:buNone/>
            </a:pPr>
            <a:r>
              <a:rPr lang="en-IN" dirty="0"/>
              <a:t>[6] M. Conti, T. </a:t>
            </a:r>
            <a:r>
              <a:rPr lang="en-IN" dirty="0" err="1"/>
              <a:t>Dargahi</a:t>
            </a:r>
            <a:r>
              <a:rPr lang="en-IN" dirty="0"/>
              <a:t>, and A. </a:t>
            </a:r>
            <a:r>
              <a:rPr lang="en-IN" dirty="0" err="1"/>
              <a:t>Dehghantanha</a:t>
            </a:r>
            <a:r>
              <a:rPr lang="en-IN" dirty="0"/>
              <a:t>, “Human-in-the-Loop Security Systems: A Survey,” ACM Computing Surveys, vol. 54, no. 1, 2021. </a:t>
            </a:r>
          </a:p>
        </p:txBody>
      </p:sp>
    </p:spTree>
    <p:extLst>
      <p:ext uri="{BB962C8B-B14F-4D97-AF65-F5344CB8AC3E}">
        <p14:creationId xmlns:p14="http://schemas.microsoft.com/office/powerpoint/2010/main" val="2160696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5DE26-9E22-8753-DDBC-5AD2EB494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27BAD-8A1B-43AE-C5B8-56C7AB34E354}"/>
              </a:ext>
            </a:extLst>
          </p:cNvPr>
          <p:cNvSpPr>
            <a:spLocks noGrp="1"/>
          </p:cNvSpPr>
          <p:nvPr>
            <p:ph type="title"/>
          </p:nvPr>
        </p:nvSpPr>
        <p:spPr/>
        <p:txBody>
          <a:bodyPr/>
          <a:lstStyle/>
          <a:p>
            <a:r>
              <a:rPr lang="en-IN" b="1" dirty="0"/>
              <a:t>References</a:t>
            </a:r>
            <a:endParaRPr lang="en-IN" dirty="0"/>
          </a:p>
        </p:txBody>
      </p:sp>
      <p:sp>
        <p:nvSpPr>
          <p:cNvPr id="4" name="Slide Number Placeholder 3">
            <a:extLst>
              <a:ext uri="{FF2B5EF4-FFF2-40B4-BE49-F238E27FC236}">
                <a16:creationId xmlns:a16="http://schemas.microsoft.com/office/drawing/2014/main" id="{BF4753A3-CFD6-A54E-4886-1E9550443CE7}"/>
              </a:ext>
            </a:extLst>
          </p:cNvPr>
          <p:cNvSpPr>
            <a:spLocks noGrp="1"/>
          </p:cNvSpPr>
          <p:nvPr>
            <p:ph type="sldNum" sz="quarter" idx="12"/>
          </p:nvPr>
        </p:nvSpPr>
        <p:spPr/>
        <p:txBody>
          <a:bodyPr/>
          <a:lstStyle/>
          <a:p>
            <a:fld id="{03F67448-8E76-4088-8C0F-9DC880FFD75C}" type="slidenum">
              <a:rPr lang="en-IN" smtClean="0"/>
              <a:t>19</a:t>
            </a:fld>
            <a:endParaRPr lang="en-IN"/>
          </a:p>
        </p:txBody>
      </p:sp>
      <p:sp>
        <p:nvSpPr>
          <p:cNvPr id="3" name="Content Placeholder 2">
            <a:extLst>
              <a:ext uri="{FF2B5EF4-FFF2-40B4-BE49-F238E27FC236}">
                <a16:creationId xmlns:a16="http://schemas.microsoft.com/office/drawing/2014/main" id="{A378CBE2-2CC3-783A-0EF3-4BCBA8BE85ED}"/>
              </a:ext>
            </a:extLst>
          </p:cNvPr>
          <p:cNvSpPr txBox="1">
            <a:spLocks/>
          </p:cNvSpPr>
          <p:nvPr/>
        </p:nvSpPr>
        <p:spPr>
          <a:xfrm>
            <a:off x="838204" y="1214207"/>
            <a:ext cx="10515600" cy="4962756"/>
          </a:xfrm>
          <a:prstGeom prst="rect">
            <a:avLst/>
          </a:prstGeom>
        </p:spPr>
        <p:txBody>
          <a:bodyPr vert="horz" lIns="91440" tIns="45720" rIns="91440" bIns="45720" rtlCol="0">
            <a:normAutofit/>
          </a:bodyPr>
          <a:lstStyle>
            <a:lvl1pPr marL="228604" indent="-228604" algn="l" defTabSz="914411" rtl="0" eaLnBrk="1" latinLnBrk="0" hangingPunct="1">
              <a:lnSpc>
                <a:spcPct val="90000"/>
              </a:lnSpc>
              <a:spcBef>
                <a:spcPts val="1001"/>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9" indent="-228604"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15" indent="-228604"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21"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Times New Roman" panose="02020603050405020304" pitchFamily="18" charset="0"/>
                <a:ea typeface="+mn-ea"/>
                <a:cs typeface="Times New Roman" panose="02020603050405020304" pitchFamily="18" charset="0"/>
              </a:defRPr>
            </a:lvl4pPr>
            <a:lvl5pPr marL="2057427"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Times New Roman" panose="02020603050405020304" pitchFamily="18" charset="0"/>
                <a:ea typeface="+mn-ea"/>
                <a:cs typeface="Times New Roman" panose="02020603050405020304" pitchFamily="18" charset="0"/>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a:lstStyle>
          <a:p>
            <a:pPr marL="0" indent="0">
              <a:buNone/>
            </a:pPr>
            <a:r>
              <a:rPr lang="en-IN" dirty="0"/>
              <a:t>[7] D. E. Denning, “An Intrusion-Detection Model,” IEEE Transactions on Software Engineering, vol. SE-13, no. 2, pp. 222–232, 1987. </a:t>
            </a:r>
          </a:p>
          <a:p>
            <a:pPr marL="0" indent="0">
              <a:buNone/>
            </a:pPr>
            <a:r>
              <a:rPr lang="en-IN" dirty="0"/>
              <a:t>[8] S. Axelsson, “The Base-Rate Fallacy and Its Implications for the </a:t>
            </a:r>
            <a:r>
              <a:rPr lang="en-IN" dirty="0" err="1"/>
              <a:t>Dif</a:t>
            </a:r>
            <a:r>
              <a:rPr lang="en-IN" dirty="0"/>
              <a:t> </a:t>
            </a:r>
            <a:r>
              <a:rPr lang="en-IN" dirty="0" err="1"/>
              <a:t>ficulty</a:t>
            </a:r>
            <a:r>
              <a:rPr lang="en-IN" dirty="0"/>
              <a:t> of Intrusion Detection,” in Proc. ACM Conference on Computer and Communications Security (CCS), 1999, pp. 1–7.</a:t>
            </a:r>
          </a:p>
          <a:p>
            <a:pPr marL="0" indent="0">
              <a:buNone/>
            </a:pPr>
            <a:r>
              <a:rPr lang="en-IN" dirty="0"/>
              <a:t> [9] W. Lee and S. J. Stolfo, “Data Mining Approaches for Intrusion Detection,” in Proc. USENIX Security Symposium, 1998, pp. 79–93.</a:t>
            </a:r>
          </a:p>
          <a:p>
            <a:pPr marL="0" indent="0">
              <a:buNone/>
            </a:pPr>
            <a:r>
              <a:rPr lang="en-IN" dirty="0"/>
              <a:t> [10] M. Roesch, “Snort: Lightweight Intrusion Detection for Networks,” in Proc. USENIX LISA, 1999, pp. 229–238.</a:t>
            </a:r>
          </a:p>
        </p:txBody>
      </p:sp>
    </p:spTree>
    <p:extLst>
      <p:ext uri="{BB962C8B-B14F-4D97-AF65-F5344CB8AC3E}">
        <p14:creationId xmlns:p14="http://schemas.microsoft.com/office/powerpoint/2010/main" val="2116917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C5D562C-02FF-23C4-C1A4-02C1E86BCF54}"/>
              </a:ext>
            </a:extLst>
          </p:cNvPr>
          <p:cNvGrpSpPr>
            <a:grpSpLocks/>
          </p:cNvGrpSpPr>
          <p:nvPr/>
        </p:nvGrpSpPr>
        <p:grpSpPr>
          <a:xfrm>
            <a:off x="2631201" y="359621"/>
            <a:ext cx="5926171" cy="6698030"/>
            <a:chOff x="2631200" y="359621"/>
            <a:chExt cx="5926171" cy="6698030"/>
          </a:xfrm>
        </p:grpSpPr>
        <p:sp>
          <p:nvSpPr>
            <p:cNvPr id="5" name="Rectangle: Rounded Corners 4">
              <a:extLst>
                <a:ext uri="{FF2B5EF4-FFF2-40B4-BE49-F238E27FC236}">
                  <a16:creationId xmlns:a16="http://schemas.microsoft.com/office/drawing/2014/main" id="{CBBE9C5C-6569-4C5C-98FD-4514941A1A59}"/>
                </a:ext>
              </a:extLst>
            </p:cNvPr>
            <p:cNvSpPr>
              <a:spLocks/>
            </p:cNvSpPr>
            <p:nvPr/>
          </p:nvSpPr>
          <p:spPr>
            <a:xfrm rot="2700000">
              <a:off x="4787270" y="1498228"/>
              <a:ext cx="2013390" cy="2013390"/>
            </a:xfrm>
            <a:prstGeom prst="roundRect">
              <a:avLst>
                <a:gd name="adj" fmla="val 20464"/>
              </a:avLst>
            </a:prstGeom>
            <a:noFill/>
            <a:ln w="34925">
              <a:solidFill>
                <a:srgbClr val="3AB6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6" name="Rectangle: Rounded Corners 5">
              <a:extLst>
                <a:ext uri="{FF2B5EF4-FFF2-40B4-BE49-F238E27FC236}">
                  <a16:creationId xmlns:a16="http://schemas.microsoft.com/office/drawing/2014/main" id="{A06BA146-A655-415F-8DCE-ED10500F28D3}"/>
                </a:ext>
              </a:extLst>
            </p:cNvPr>
            <p:cNvSpPr>
              <a:spLocks/>
            </p:cNvSpPr>
            <p:nvPr/>
          </p:nvSpPr>
          <p:spPr>
            <a:xfrm rot="2700000">
              <a:off x="6838259" y="3069049"/>
              <a:ext cx="1719112" cy="1719112"/>
            </a:xfrm>
            <a:prstGeom prst="roundRect">
              <a:avLst>
                <a:gd name="adj" fmla="val 20464"/>
              </a:avLst>
            </a:prstGeom>
            <a:noFill/>
            <a:ln w="34925">
              <a:solidFill>
                <a:srgbClr val="3AB6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7" name="Rectangle: Rounded Corners 6">
              <a:extLst>
                <a:ext uri="{FF2B5EF4-FFF2-40B4-BE49-F238E27FC236}">
                  <a16:creationId xmlns:a16="http://schemas.microsoft.com/office/drawing/2014/main" id="{0F5C243C-8AFA-48C1-BC37-34FA15F457A4}"/>
                </a:ext>
              </a:extLst>
            </p:cNvPr>
            <p:cNvSpPr>
              <a:spLocks/>
            </p:cNvSpPr>
            <p:nvPr/>
          </p:nvSpPr>
          <p:spPr>
            <a:xfrm rot="2700000" flipV="1">
              <a:off x="4540878" y="4118095"/>
              <a:ext cx="952612" cy="952612"/>
            </a:xfrm>
            <a:prstGeom prst="roundRect">
              <a:avLst>
                <a:gd name="adj" fmla="val 20464"/>
              </a:avLst>
            </a:prstGeom>
            <a:noFill/>
            <a:ln w="34925">
              <a:solidFill>
                <a:srgbClr val="3AB6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3" name="Rectangle: Rounded Corners 2">
              <a:extLst>
                <a:ext uri="{FF2B5EF4-FFF2-40B4-BE49-F238E27FC236}">
                  <a16:creationId xmlns:a16="http://schemas.microsoft.com/office/drawing/2014/main" id="{E7236F8A-92A8-462D-9C5C-EBB0391EE255}"/>
                </a:ext>
              </a:extLst>
            </p:cNvPr>
            <p:cNvSpPr>
              <a:spLocks/>
            </p:cNvSpPr>
            <p:nvPr/>
          </p:nvSpPr>
          <p:spPr>
            <a:xfrm rot="2700000">
              <a:off x="4873773" y="2476033"/>
              <a:ext cx="2632086" cy="2632086"/>
            </a:xfrm>
            <a:prstGeom prst="roundRect">
              <a:avLst>
                <a:gd name="adj" fmla="val 19126"/>
              </a:avLst>
            </a:prstGeom>
            <a:solidFill>
              <a:srgbClr val="3AB6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10" name="Title 1">
              <a:extLst>
                <a:ext uri="{FF2B5EF4-FFF2-40B4-BE49-F238E27FC236}">
                  <a16:creationId xmlns:a16="http://schemas.microsoft.com/office/drawing/2014/main" id="{A72742A2-6260-4172-8D34-B3FEEEF9BC92}"/>
                </a:ext>
              </a:extLst>
            </p:cNvPr>
            <p:cNvSpPr txBox="1">
              <a:spLocks/>
            </p:cNvSpPr>
            <p:nvPr/>
          </p:nvSpPr>
          <p:spPr>
            <a:xfrm>
              <a:off x="5052519" y="3279222"/>
              <a:ext cx="2274594" cy="1239069"/>
            </a:xfrm>
            <a:prstGeom prst="rect">
              <a:avLst/>
            </a:prstGeom>
          </p:spPr>
          <p:txBody>
            <a:bodyPr vert="horz"/>
            <a:lstStyle>
              <a:lvl1pPr algn="l" defTabSz="914400" rtl="0" eaLnBrk="1" latinLnBrk="0" hangingPunct="1">
                <a:lnSpc>
                  <a:spcPct val="90000"/>
                </a:lnSpc>
                <a:spcBef>
                  <a:spcPct val="0"/>
                </a:spcBef>
                <a:buNone/>
                <a:defRPr sz="3200" b="1" kern="1200">
                  <a:solidFill>
                    <a:schemeClr val="tx1">
                      <a:lumMod val="65000"/>
                      <a:lumOff val="35000"/>
                    </a:schemeClr>
                  </a:solidFill>
                  <a:latin typeface="Arial" panose="020B0604020202020204" pitchFamily="34" charset="0"/>
                  <a:ea typeface="+mj-ea"/>
                  <a:cs typeface="Arial" panose="020B0604020202020204" pitchFamily="34" charset="0"/>
                </a:defRPr>
              </a:lvl1pPr>
            </a:lstStyle>
            <a:p>
              <a:pPr algn="ctr"/>
              <a:r>
                <a:rPr lang="en-IN" sz="4400" dirty="0">
                  <a:solidFill>
                    <a:schemeClr val="tx1">
                      <a:lumMod val="95000"/>
                      <a:lumOff val="5000"/>
                    </a:schemeClr>
                  </a:solidFill>
                </a:rPr>
                <a:t>THANK YOU</a:t>
              </a:r>
            </a:p>
          </p:txBody>
        </p:sp>
        <p:sp>
          <p:nvSpPr>
            <p:cNvPr id="15" name="Freeform: Shape 14">
              <a:extLst>
                <a:ext uri="{FF2B5EF4-FFF2-40B4-BE49-F238E27FC236}">
                  <a16:creationId xmlns:a16="http://schemas.microsoft.com/office/drawing/2014/main" id="{92A43068-9F93-4923-849F-C40C2616E5FD}"/>
                </a:ext>
              </a:extLst>
            </p:cNvPr>
            <p:cNvSpPr>
              <a:spLocks/>
            </p:cNvSpPr>
            <p:nvPr/>
          </p:nvSpPr>
          <p:spPr>
            <a:xfrm rot="2700000">
              <a:off x="6514437" y="5459985"/>
              <a:ext cx="1597666" cy="1597666"/>
            </a:xfrm>
            <a:custGeom>
              <a:avLst/>
              <a:gdLst>
                <a:gd name="connsiteX0" fmla="*/ 89500 w 1597666"/>
                <a:gd name="connsiteY0" fmla="*/ 89500 h 1597666"/>
                <a:gd name="connsiteX1" fmla="*/ 305570 w 1597666"/>
                <a:gd name="connsiteY1" fmla="*/ 0 h 1597666"/>
                <a:gd name="connsiteX2" fmla="*/ 1292096 w 1597666"/>
                <a:gd name="connsiteY2" fmla="*/ 0 h 1597666"/>
                <a:gd name="connsiteX3" fmla="*/ 1597666 w 1597666"/>
                <a:gd name="connsiteY3" fmla="*/ 305570 h 1597666"/>
                <a:gd name="connsiteX4" fmla="*/ 1597666 w 1597666"/>
                <a:gd name="connsiteY4" fmla="*/ 828667 h 1597666"/>
                <a:gd name="connsiteX5" fmla="*/ 828667 w 1597666"/>
                <a:gd name="connsiteY5" fmla="*/ 1597666 h 1597666"/>
                <a:gd name="connsiteX6" fmla="*/ 305570 w 1597666"/>
                <a:gd name="connsiteY6" fmla="*/ 1597666 h 1597666"/>
                <a:gd name="connsiteX7" fmla="*/ 0 w 1597666"/>
                <a:gd name="connsiteY7" fmla="*/ 1292096 h 1597666"/>
                <a:gd name="connsiteX8" fmla="*/ 0 w 1597666"/>
                <a:gd name="connsiteY8" fmla="*/ 305570 h 1597666"/>
                <a:gd name="connsiteX9" fmla="*/ 89500 w 1597666"/>
                <a:gd name="connsiteY9" fmla="*/ 89500 h 1597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7666" h="1597666">
                  <a:moveTo>
                    <a:pt x="89500" y="89500"/>
                  </a:moveTo>
                  <a:cubicBezTo>
                    <a:pt x="144796" y="34202"/>
                    <a:pt x="221189" y="0"/>
                    <a:pt x="305570" y="0"/>
                  </a:cubicBezTo>
                  <a:lnTo>
                    <a:pt x="1292096" y="0"/>
                  </a:lnTo>
                  <a:cubicBezTo>
                    <a:pt x="1460858" y="0"/>
                    <a:pt x="1597666" y="136808"/>
                    <a:pt x="1597666" y="305570"/>
                  </a:cubicBezTo>
                  <a:lnTo>
                    <a:pt x="1597666" y="828667"/>
                  </a:lnTo>
                  <a:lnTo>
                    <a:pt x="828667" y="1597666"/>
                  </a:lnTo>
                  <a:lnTo>
                    <a:pt x="305570" y="1597666"/>
                  </a:lnTo>
                  <a:cubicBezTo>
                    <a:pt x="136808" y="1597666"/>
                    <a:pt x="0" y="1460858"/>
                    <a:pt x="0" y="1292096"/>
                  </a:cubicBezTo>
                  <a:lnTo>
                    <a:pt x="0" y="305570"/>
                  </a:lnTo>
                  <a:cubicBezTo>
                    <a:pt x="0" y="221189"/>
                    <a:pt x="34202" y="144796"/>
                    <a:pt x="89500" y="89500"/>
                  </a:cubicBezTo>
                  <a:close/>
                </a:path>
              </a:pathLst>
            </a:custGeom>
            <a:solidFill>
              <a:srgbClr val="3AB6D0">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1"/>
            </a:p>
          </p:txBody>
        </p:sp>
        <p:sp>
          <p:nvSpPr>
            <p:cNvPr id="12" name="Rectangle: Rounded Corners 11">
              <a:extLst>
                <a:ext uri="{FF2B5EF4-FFF2-40B4-BE49-F238E27FC236}">
                  <a16:creationId xmlns:a16="http://schemas.microsoft.com/office/drawing/2014/main" id="{03F0C82F-60D6-4E8E-8658-1945239ECDC7}"/>
                </a:ext>
              </a:extLst>
            </p:cNvPr>
            <p:cNvSpPr>
              <a:spLocks/>
            </p:cNvSpPr>
            <p:nvPr/>
          </p:nvSpPr>
          <p:spPr>
            <a:xfrm rot="2700000">
              <a:off x="6510289" y="359621"/>
              <a:ext cx="1597666" cy="1597666"/>
            </a:xfrm>
            <a:prstGeom prst="roundRect">
              <a:avLst>
                <a:gd name="adj" fmla="val 19126"/>
              </a:avLst>
            </a:prstGeom>
            <a:solidFill>
              <a:srgbClr val="3AB6D0">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sp>
          <p:nvSpPr>
            <p:cNvPr id="13" name="Rectangle: Rounded Corners 12">
              <a:extLst>
                <a:ext uri="{FF2B5EF4-FFF2-40B4-BE49-F238E27FC236}">
                  <a16:creationId xmlns:a16="http://schemas.microsoft.com/office/drawing/2014/main" id="{8632F3FE-74FC-4251-9C8C-0D58948AEC51}"/>
                </a:ext>
              </a:extLst>
            </p:cNvPr>
            <p:cNvSpPr>
              <a:spLocks/>
            </p:cNvSpPr>
            <p:nvPr/>
          </p:nvSpPr>
          <p:spPr>
            <a:xfrm rot="2700000">
              <a:off x="2631200" y="2321568"/>
              <a:ext cx="1597666" cy="1597666"/>
            </a:xfrm>
            <a:prstGeom prst="roundRect">
              <a:avLst>
                <a:gd name="adj" fmla="val 19126"/>
              </a:avLst>
            </a:prstGeom>
            <a:solidFill>
              <a:srgbClr val="3AB6D0">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grpSp>
      <p:sp>
        <p:nvSpPr>
          <p:cNvPr id="2" name="Slide Number Placeholder 1">
            <a:extLst>
              <a:ext uri="{FF2B5EF4-FFF2-40B4-BE49-F238E27FC236}">
                <a16:creationId xmlns:a16="http://schemas.microsoft.com/office/drawing/2014/main" id="{5185D80B-0989-FDB8-ACE2-BA4EE29DA08D}"/>
              </a:ext>
            </a:extLst>
          </p:cNvPr>
          <p:cNvSpPr>
            <a:spLocks noGrp="1"/>
          </p:cNvSpPr>
          <p:nvPr>
            <p:ph type="sldNum" sz="quarter" idx="12"/>
          </p:nvPr>
        </p:nvSpPr>
        <p:spPr/>
        <p:txBody>
          <a:bodyPr/>
          <a:lstStyle/>
          <a:p>
            <a:fld id="{03F67448-8E76-4088-8C0F-9DC880FFD75C}" type="slidenum">
              <a:rPr lang="en-IN" smtClean="0"/>
              <a:t>20</a:t>
            </a:fld>
            <a:endParaRPr lang="en-IN"/>
          </a:p>
        </p:txBody>
      </p:sp>
    </p:spTree>
    <p:extLst>
      <p:ext uri="{BB962C8B-B14F-4D97-AF65-F5344CB8AC3E}">
        <p14:creationId xmlns:p14="http://schemas.microsoft.com/office/powerpoint/2010/main" val="389667142"/>
      </p:ext>
    </p:extLst>
  </p:cSld>
  <p:clrMapOvr>
    <a:masterClrMapping/>
  </p:clrMapOvr>
</p:sld>
</file>

<file path=ppt/theme/theme1.xml><?xml version="1.0" encoding="utf-8"?>
<a:theme xmlns:a="http://schemas.openxmlformats.org/drawingml/2006/main" name="PhD_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Frosted Glass">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hD_Theme" id="{75B492E9-CE18-4B4D-BE6D-57B3A7A6CA58}" vid="{D2D83074-D226-415D-BDF0-B9C503FED4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FB57506-1FAE-475D-8D9C-F9B7351CCDBA}">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PhD_Theme</Template>
  <TotalTime>4104</TotalTime>
  <Words>1877</Words>
  <Application>Microsoft Office PowerPoint</Application>
  <PresentationFormat>Widescreen</PresentationFormat>
  <Paragraphs>162</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Calibri</vt:lpstr>
      <vt:lpstr>Courier New</vt:lpstr>
      <vt:lpstr>Times New Roman</vt:lpstr>
      <vt:lpstr>PhD_Theme</vt:lpstr>
      <vt:lpstr>PowerPoint Presentation</vt:lpstr>
      <vt:lpstr>Index</vt:lpstr>
      <vt:lpstr>Introduction</vt:lpstr>
      <vt:lpstr>Literature Review</vt:lpstr>
      <vt:lpstr>Literature Review</vt:lpstr>
      <vt:lpstr>Problem Statement</vt:lpstr>
      <vt:lpstr>Motivation</vt:lpstr>
      <vt:lpstr>Methodology</vt:lpstr>
      <vt:lpstr>Algorithm / Pseudocode</vt:lpstr>
      <vt:lpstr>Architecture / System Diagram</vt:lpstr>
      <vt:lpstr>Architecture / System Diagram</vt:lpstr>
      <vt:lpstr>Results and Analysis(Docker)</vt:lpstr>
      <vt:lpstr>Results and Analysis(Elasticsearch)</vt:lpstr>
      <vt:lpstr>Results and Analysis  (Windows Aggregation Python File )</vt:lpstr>
      <vt:lpstr>Results and Analysis</vt:lpstr>
      <vt:lpstr>Conclusion</vt:lpstr>
      <vt:lpstr>Publication</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Amar Jukuntla</dc:creator>
  <cp:lastModifiedBy>Saugat Chaudhary</cp:lastModifiedBy>
  <cp:revision>562</cp:revision>
  <dcterms:created xsi:type="dcterms:W3CDTF">2024-10-05T17:41:04Z</dcterms:created>
  <dcterms:modified xsi:type="dcterms:W3CDTF">2026-05-10T20:15:17Z</dcterms:modified>
</cp:coreProperties>
</file>